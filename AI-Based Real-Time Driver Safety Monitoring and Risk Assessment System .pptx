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rimo" panose="020B0604020202020204" charset="0"/>
      <p:regular r:id="rId18"/>
    </p:embeddedFont>
    <p:embeddedFont>
      <p:font typeface="Canva Sans" panose="020B0604020202020204" charset="0"/>
      <p:regular r:id="rId19"/>
    </p:embeddedFont>
    <p:embeddedFont>
      <p:font typeface="Canva Sans Bold" panose="020B0604020202020204" charset="0"/>
      <p:regular r:id="rId20"/>
    </p:embeddedFont>
    <p:embeddedFont>
      <p:font typeface="Drunken Hour"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1" d="100"/>
          <a:sy n="61" d="100"/>
        </p:scale>
        <p:origin x="78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linkedin.com/in/akhilesh-kurakula/"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2" r="-1252"/>
            </a:stretch>
          </a:blipFill>
        </p:spPr>
      </p:sp>
      <p:sp>
        <p:nvSpPr>
          <p:cNvPr id="3" name="TextBox 3"/>
          <p:cNvSpPr txBox="1"/>
          <p:nvPr/>
        </p:nvSpPr>
        <p:spPr>
          <a:xfrm>
            <a:off x="1028700" y="5426872"/>
            <a:ext cx="16230600" cy="1393824"/>
          </a:xfrm>
          <a:prstGeom prst="rect">
            <a:avLst/>
          </a:prstGeom>
        </p:spPr>
        <p:txBody>
          <a:bodyPr lIns="0" tIns="0" rIns="0" bIns="0" rtlCol="0" anchor="t">
            <a:spAutoFit/>
          </a:bodyPr>
          <a:lstStyle/>
          <a:p>
            <a:pPr algn="ctr">
              <a:lnSpc>
                <a:spcPts val="5600"/>
              </a:lnSpc>
            </a:pPr>
            <a:r>
              <a:rPr lang="en-US" sz="4000" b="1">
                <a:solidFill>
                  <a:srgbClr val="000000"/>
                </a:solidFill>
                <a:latin typeface="Canva Sans Bold"/>
                <a:ea typeface="Canva Sans Bold"/>
                <a:cs typeface="Canva Sans Bold"/>
                <a:sym typeface="Canva Sans Bold"/>
              </a:rPr>
              <a:t>AI-Based Real-Time Driver Safety Monitoring and Risk Assessment System </a:t>
            </a:r>
          </a:p>
        </p:txBody>
      </p:sp>
      <p:sp>
        <p:nvSpPr>
          <p:cNvPr id="4" name="TextBox 4"/>
          <p:cNvSpPr txBox="1"/>
          <p:nvPr/>
        </p:nvSpPr>
        <p:spPr>
          <a:xfrm>
            <a:off x="12325396" y="6930391"/>
            <a:ext cx="4933904" cy="2327909"/>
          </a:xfrm>
          <a:prstGeom prst="rect">
            <a:avLst/>
          </a:prstGeom>
        </p:spPr>
        <p:txBody>
          <a:bodyPr lIns="0" tIns="0" rIns="0" bIns="0" rtlCol="0" anchor="t">
            <a:spAutoFit/>
          </a:bodyPr>
          <a:lstStyle/>
          <a:p>
            <a:pPr algn="just">
              <a:lnSpc>
                <a:spcPts val="5880"/>
              </a:lnSpc>
            </a:pPr>
            <a:r>
              <a:rPr lang="en-US" sz="4200" b="1">
                <a:solidFill>
                  <a:srgbClr val="FF3131"/>
                </a:solidFill>
                <a:latin typeface="Canva Sans Bold"/>
                <a:ea typeface="Canva Sans Bold"/>
                <a:cs typeface="Canva Sans Bold"/>
                <a:sym typeface="Canva Sans Bold"/>
              </a:rPr>
              <a:t>Presented by:</a:t>
            </a:r>
          </a:p>
          <a:p>
            <a:pPr algn="just">
              <a:lnSpc>
                <a:spcPts val="4200"/>
              </a:lnSpc>
            </a:pPr>
            <a:r>
              <a:rPr lang="en-US" sz="3000" b="1">
                <a:solidFill>
                  <a:srgbClr val="000000"/>
                </a:solidFill>
                <a:latin typeface="Canva Sans Bold"/>
                <a:ea typeface="Canva Sans Bold"/>
                <a:cs typeface="Canva Sans Bold"/>
                <a:sym typeface="Canva Sans Bold"/>
              </a:rPr>
              <a:t>Kurakula Akhilesh</a:t>
            </a:r>
          </a:p>
          <a:p>
            <a:pPr algn="just">
              <a:lnSpc>
                <a:spcPts val="4200"/>
              </a:lnSpc>
            </a:pPr>
            <a:r>
              <a:rPr lang="en-US" sz="3000" b="1">
                <a:solidFill>
                  <a:srgbClr val="000000"/>
                </a:solidFill>
                <a:latin typeface="Canva Sans Bold"/>
                <a:ea typeface="Canva Sans Bold"/>
                <a:cs typeface="Canva Sans Bold"/>
                <a:sym typeface="Canva Sans Bold"/>
              </a:rPr>
              <a:t>Batch.No : 480</a:t>
            </a:r>
          </a:p>
          <a:p>
            <a:pPr algn="just">
              <a:lnSpc>
                <a:spcPts val="4200"/>
              </a:lnSpc>
            </a:pPr>
            <a:r>
              <a:rPr lang="en-US" sz="3000" b="1">
                <a:solidFill>
                  <a:srgbClr val="000000"/>
                </a:solidFill>
                <a:latin typeface="Canva Sans Bold"/>
                <a:ea typeface="Canva Sans Bold"/>
                <a:cs typeface="Canva Sans Bold"/>
                <a:sym typeface="Canva Sans Bold"/>
              </a:rPr>
              <a:t>Innomatics Research Labs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98245" y="933450"/>
            <a:ext cx="3144044" cy="887095"/>
          </a:xfrm>
          <a:prstGeom prst="rect">
            <a:avLst/>
          </a:prstGeom>
        </p:spPr>
        <p:txBody>
          <a:bodyPr lIns="0" tIns="0" rIns="0" bIns="0" rtlCol="0" anchor="t">
            <a:spAutoFit/>
          </a:bodyPr>
          <a:lstStyle/>
          <a:p>
            <a:pPr algn="ctr">
              <a:lnSpc>
                <a:spcPts val="7279"/>
              </a:lnSpc>
            </a:pPr>
            <a:r>
              <a:rPr lang="en-US" sz="5199" b="1">
                <a:solidFill>
                  <a:srgbClr val="FF3131"/>
                </a:solidFill>
                <a:latin typeface="Canva Sans Bold"/>
                <a:ea typeface="Canva Sans Bold"/>
                <a:cs typeface="Canva Sans Bold"/>
                <a:sym typeface="Canva Sans Bold"/>
              </a:rPr>
              <a:t>About me</a:t>
            </a:r>
          </a:p>
        </p:txBody>
      </p:sp>
      <p:sp>
        <p:nvSpPr>
          <p:cNvPr id="3" name="TextBox 3"/>
          <p:cNvSpPr txBox="1"/>
          <p:nvPr/>
        </p:nvSpPr>
        <p:spPr>
          <a:xfrm>
            <a:off x="1028700" y="2301557"/>
            <a:ext cx="7124700" cy="580390"/>
          </a:xfrm>
          <a:prstGeom prst="rect">
            <a:avLst/>
          </a:prstGeom>
        </p:spPr>
        <p:txBody>
          <a:bodyPr wrap="square" lIns="0" tIns="0" rIns="0" bIns="0" rtlCol="0" anchor="t">
            <a:spAutoFit/>
          </a:bodyPr>
          <a:lstStyle/>
          <a:p>
            <a:pPr marL="734059" lvl="1" indent="-367030" algn="l">
              <a:lnSpc>
                <a:spcPts val="4759"/>
              </a:lnSpc>
              <a:buFont typeface="Arial"/>
              <a:buChar char="•"/>
            </a:pPr>
            <a:r>
              <a:rPr lang="en-US" sz="3399" dirty="0">
                <a:solidFill>
                  <a:srgbClr val="000000"/>
                </a:solidFill>
                <a:latin typeface="Canva Sans"/>
                <a:ea typeface="Canva Sans"/>
                <a:cs typeface="Canva Sans"/>
                <a:sym typeface="Canva Sans"/>
              </a:rPr>
              <a:t>My Name is</a:t>
            </a:r>
            <a:r>
              <a:rPr lang="en-US" sz="3399" b="1" dirty="0">
                <a:solidFill>
                  <a:srgbClr val="000000"/>
                </a:solidFill>
                <a:latin typeface="Canva Sans Bold"/>
                <a:ea typeface="Canva Sans Bold"/>
                <a:cs typeface="Canva Sans Bold"/>
                <a:sym typeface="Canva Sans Bold"/>
              </a:rPr>
              <a:t> Kurakula Akhilesh</a:t>
            </a:r>
          </a:p>
        </p:txBody>
      </p:sp>
      <p:sp>
        <p:nvSpPr>
          <p:cNvPr id="4" name="TextBox 4"/>
          <p:cNvSpPr txBox="1"/>
          <p:nvPr/>
        </p:nvSpPr>
        <p:spPr>
          <a:xfrm>
            <a:off x="1028700" y="3362960"/>
            <a:ext cx="16230600" cy="1180465"/>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000000"/>
                </a:solidFill>
                <a:latin typeface="Canva Sans"/>
                <a:ea typeface="Canva Sans"/>
                <a:cs typeface="Canva Sans"/>
                <a:sym typeface="Canva Sans"/>
              </a:rPr>
              <a:t>I have graduated with a </a:t>
            </a:r>
            <a:r>
              <a:rPr lang="en-US" sz="3399" b="1">
                <a:solidFill>
                  <a:srgbClr val="000000"/>
                </a:solidFill>
                <a:latin typeface="Canva Sans Bold"/>
                <a:ea typeface="Canva Sans Bold"/>
                <a:cs typeface="Canva Sans Bold"/>
                <a:sym typeface="Canva Sans Bold"/>
              </a:rPr>
              <a:t>Bachelor of Technology (B.Tech)</a:t>
            </a:r>
            <a:r>
              <a:rPr lang="en-US" sz="3399">
                <a:solidFill>
                  <a:srgbClr val="000000"/>
                </a:solidFill>
                <a:latin typeface="Canva Sans"/>
                <a:ea typeface="Canva Sans"/>
                <a:cs typeface="Canva Sans"/>
                <a:sym typeface="Canva Sans"/>
              </a:rPr>
              <a:t> in Computer Science from Gokaraju Rangaraju Institute of Engineering and Technology.</a:t>
            </a:r>
          </a:p>
        </p:txBody>
      </p:sp>
      <p:sp>
        <p:nvSpPr>
          <p:cNvPr id="5" name="TextBox 5"/>
          <p:cNvSpPr txBox="1"/>
          <p:nvPr/>
        </p:nvSpPr>
        <p:spPr>
          <a:xfrm>
            <a:off x="1028700" y="4819967"/>
            <a:ext cx="16230600" cy="1180465"/>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000000"/>
                </a:solidFill>
                <a:latin typeface="Canva Sans"/>
                <a:ea typeface="Canva Sans"/>
                <a:cs typeface="Canva Sans"/>
                <a:sym typeface="Canva Sans"/>
              </a:rPr>
              <a:t>I aspire to become a Data Scientist to explore large datasets, perform analysis, create meaningful reports, and develop automation solutions.</a:t>
            </a:r>
          </a:p>
        </p:txBody>
      </p:sp>
      <p:sp>
        <p:nvSpPr>
          <p:cNvPr id="6" name="TextBox 6"/>
          <p:cNvSpPr txBox="1"/>
          <p:nvPr/>
        </p:nvSpPr>
        <p:spPr>
          <a:xfrm>
            <a:off x="1028700" y="6743065"/>
            <a:ext cx="2933700" cy="537844"/>
          </a:xfrm>
          <a:prstGeom prst="rect">
            <a:avLst/>
          </a:prstGeom>
        </p:spPr>
        <p:txBody>
          <a:bodyPr wrap="square" lIns="0" tIns="0" rIns="0" bIns="0" rtlCol="0" anchor="t">
            <a:spAutoFit/>
          </a:bodyPr>
          <a:lstStyle/>
          <a:p>
            <a:pPr marL="690890" lvl="1" indent="-345445" algn="l">
              <a:lnSpc>
                <a:spcPts val="4480"/>
              </a:lnSpc>
              <a:buFont typeface="Arial"/>
              <a:buChar char="•"/>
            </a:pPr>
            <a:r>
              <a:rPr lang="en-US" sz="3200" b="1" dirty="0">
                <a:solidFill>
                  <a:srgbClr val="000000"/>
                </a:solidFill>
                <a:latin typeface="Canva Sans Bold"/>
                <a:ea typeface="Canva Sans Bold"/>
                <a:cs typeface="Canva Sans Bold"/>
                <a:sym typeface="Canva Sans Bold"/>
              </a:rPr>
              <a:t>LinkedIn  :</a:t>
            </a:r>
          </a:p>
        </p:txBody>
      </p:sp>
      <p:sp>
        <p:nvSpPr>
          <p:cNvPr id="7" name="TextBox 7"/>
          <p:cNvSpPr txBox="1"/>
          <p:nvPr/>
        </p:nvSpPr>
        <p:spPr>
          <a:xfrm>
            <a:off x="4378349" y="6714490"/>
            <a:ext cx="8783836" cy="599439"/>
          </a:xfrm>
          <a:prstGeom prst="rect">
            <a:avLst/>
          </a:prstGeom>
        </p:spPr>
        <p:txBody>
          <a:bodyPr lIns="0" tIns="0" rIns="0" bIns="0" rtlCol="0" anchor="t">
            <a:spAutoFit/>
          </a:bodyPr>
          <a:lstStyle/>
          <a:p>
            <a:pPr algn="l">
              <a:lnSpc>
                <a:spcPts val="4760"/>
              </a:lnSpc>
            </a:pPr>
            <a:r>
              <a:rPr lang="en-US" sz="3400" u="sng" dirty="0">
                <a:solidFill>
                  <a:srgbClr val="000000"/>
                </a:solidFill>
                <a:latin typeface="Arimo"/>
                <a:ea typeface="Arimo"/>
                <a:cs typeface="Arimo"/>
                <a:sym typeface="Arimo"/>
                <a:hlinkClick r:id="rId2" tooltip="https://www.linkedin.com/in/akhilesh-kurakula/"/>
              </a:rPr>
              <a:t>https://www.linkedin.com/in/akhilesh-kurakula/</a:t>
            </a:r>
          </a:p>
        </p:txBody>
      </p:sp>
      <p:sp>
        <p:nvSpPr>
          <p:cNvPr id="8" name="Freeform 8"/>
          <p:cNvSpPr/>
          <p:nvPr/>
        </p:nvSpPr>
        <p:spPr>
          <a:xfrm>
            <a:off x="13294308"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3"/>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929860" y="141605"/>
            <a:ext cx="2585740" cy="887095"/>
          </a:xfrm>
          <a:prstGeom prst="rect">
            <a:avLst/>
          </a:prstGeom>
        </p:spPr>
        <p:txBody>
          <a:bodyPr wrap="square" lIns="0" tIns="0" rIns="0" bIns="0" rtlCol="0" anchor="t">
            <a:spAutoFit/>
          </a:bodyPr>
          <a:lstStyle/>
          <a:p>
            <a:pPr algn="ctr">
              <a:lnSpc>
                <a:spcPts val="7279"/>
              </a:lnSpc>
            </a:pPr>
            <a:r>
              <a:rPr lang="en-US" sz="5199" b="1" dirty="0">
                <a:solidFill>
                  <a:srgbClr val="FF3131"/>
                </a:solidFill>
                <a:latin typeface="Canva Sans Bold"/>
                <a:ea typeface="Canva Sans Bold"/>
                <a:cs typeface="Canva Sans Bold"/>
                <a:sym typeface="Canva Sans Bold"/>
              </a:rPr>
              <a:t>Agenda</a:t>
            </a:r>
          </a:p>
        </p:txBody>
      </p:sp>
      <p:sp>
        <p:nvSpPr>
          <p:cNvPr id="3" name="TextBox 3"/>
          <p:cNvSpPr txBox="1"/>
          <p:nvPr/>
        </p:nvSpPr>
        <p:spPr>
          <a:xfrm>
            <a:off x="1028700" y="952500"/>
            <a:ext cx="7621690" cy="8305800"/>
          </a:xfrm>
          <a:prstGeom prst="rect">
            <a:avLst/>
          </a:prstGeom>
        </p:spPr>
        <p:txBody>
          <a:bodyPr lIns="0" tIns="0" rIns="0" bIns="0" rtlCol="0" anchor="t">
            <a:spAutoFit/>
          </a:bodyPr>
          <a:lstStyle/>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Introduction</a:t>
            </a:r>
          </a:p>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Problem Statement</a:t>
            </a:r>
          </a:p>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Technologies Used</a:t>
            </a:r>
          </a:p>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System Architecture</a:t>
            </a:r>
          </a:p>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Drowsiness Detection</a:t>
            </a:r>
          </a:p>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Yawning Detection </a:t>
            </a:r>
          </a:p>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Head Distraction Detection </a:t>
            </a:r>
          </a:p>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Phone Usage Detection </a:t>
            </a:r>
          </a:p>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Advantages</a:t>
            </a:r>
          </a:p>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Limitations</a:t>
            </a:r>
          </a:p>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Future Enhancements</a:t>
            </a:r>
          </a:p>
          <a:p>
            <a:pPr marL="845335" lvl="1" indent="-422667" algn="l">
              <a:lnSpc>
                <a:spcPts val="5481"/>
              </a:lnSpc>
              <a:buFont typeface="Arial"/>
              <a:buChar char="•"/>
            </a:pPr>
            <a:r>
              <a:rPr lang="en-US" sz="3915" b="1">
                <a:solidFill>
                  <a:srgbClr val="000000"/>
                </a:solidFill>
                <a:latin typeface="Canva Sans Bold"/>
                <a:ea typeface="Canva Sans Bold"/>
                <a:cs typeface="Canva Sans Bold"/>
                <a:sym typeface="Canva Sans Bold"/>
              </a:rPr>
              <a:t>Conclusion</a:t>
            </a:r>
          </a:p>
        </p:txBody>
      </p:sp>
      <p:sp>
        <p:nvSpPr>
          <p:cNvPr id="4" name="Freeform 4"/>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2"/>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540491"/>
            <a:ext cx="4365578" cy="2574309"/>
            <a:chOff x="0" y="0"/>
            <a:chExt cx="1149782" cy="678007"/>
          </a:xfrm>
        </p:grpSpPr>
        <p:sp>
          <p:nvSpPr>
            <p:cNvPr id="3" name="Freeform 3"/>
            <p:cNvSpPr/>
            <p:nvPr/>
          </p:nvSpPr>
          <p:spPr>
            <a:xfrm>
              <a:off x="0" y="0"/>
              <a:ext cx="1149782" cy="678007"/>
            </a:xfrm>
            <a:custGeom>
              <a:avLst/>
              <a:gdLst/>
              <a:ahLst/>
              <a:cxnLst/>
              <a:rect l="l" t="t" r="r" b="b"/>
              <a:pathLst>
                <a:path w="1149782" h="678007">
                  <a:moveTo>
                    <a:pt x="0" y="0"/>
                  </a:moveTo>
                  <a:lnTo>
                    <a:pt x="1149782" y="0"/>
                  </a:lnTo>
                  <a:lnTo>
                    <a:pt x="1149782" y="678007"/>
                  </a:lnTo>
                  <a:lnTo>
                    <a:pt x="0" y="678007"/>
                  </a:lnTo>
                  <a:close/>
                </a:path>
              </a:pathLst>
            </a:custGeom>
            <a:solidFill>
              <a:srgbClr val="545454"/>
            </a:solidFill>
          </p:spPr>
        </p:sp>
        <p:sp>
          <p:nvSpPr>
            <p:cNvPr id="4" name="TextBox 4"/>
            <p:cNvSpPr txBox="1"/>
            <p:nvPr/>
          </p:nvSpPr>
          <p:spPr>
            <a:xfrm>
              <a:off x="0" y="-38100"/>
              <a:ext cx="1149782" cy="71610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961211" y="1540491"/>
            <a:ext cx="4365578" cy="2574309"/>
            <a:chOff x="0" y="0"/>
            <a:chExt cx="1149782" cy="678007"/>
          </a:xfrm>
        </p:grpSpPr>
        <p:sp>
          <p:nvSpPr>
            <p:cNvPr id="6" name="Freeform 6"/>
            <p:cNvSpPr/>
            <p:nvPr/>
          </p:nvSpPr>
          <p:spPr>
            <a:xfrm>
              <a:off x="0" y="0"/>
              <a:ext cx="1149782" cy="678007"/>
            </a:xfrm>
            <a:custGeom>
              <a:avLst/>
              <a:gdLst/>
              <a:ahLst/>
              <a:cxnLst/>
              <a:rect l="l" t="t" r="r" b="b"/>
              <a:pathLst>
                <a:path w="1149782" h="678007">
                  <a:moveTo>
                    <a:pt x="0" y="0"/>
                  </a:moveTo>
                  <a:lnTo>
                    <a:pt x="1149782" y="0"/>
                  </a:lnTo>
                  <a:lnTo>
                    <a:pt x="1149782" y="678007"/>
                  </a:lnTo>
                  <a:lnTo>
                    <a:pt x="0" y="678007"/>
                  </a:lnTo>
                  <a:close/>
                </a:path>
              </a:pathLst>
            </a:custGeom>
            <a:solidFill>
              <a:srgbClr val="545454"/>
            </a:solidFill>
          </p:spPr>
        </p:sp>
        <p:sp>
          <p:nvSpPr>
            <p:cNvPr id="7" name="TextBox 7"/>
            <p:cNvSpPr txBox="1"/>
            <p:nvPr/>
          </p:nvSpPr>
          <p:spPr>
            <a:xfrm>
              <a:off x="0" y="-38100"/>
              <a:ext cx="1149782" cy="71610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2893722" y="1540491"/>
            <a:ext cx="4365578" cy="2574309"/>
            <a:chOff x="0" y="0"/>
            <a:chExt cx="1149782" cy="678007"/>
          </a:xfrm>
        </p:grpSpPr>
        <p:sp>
          <p:nvSpPr>
            <p:cNvPr id="9" name="Freeform 9"/>
            <p:cNvSpPr/>
            <p:nvPr/>
          </p:nvSpPr>
          <p:spPr>
            <a:xfrm>
              <a:off x="0" y="0"/>
              <a:ext cx="1149782" cy="678007"/>
            </a:xfrm>
            <a:custGeom>
              <a:avLst/>
              <a:gdLst/>
              <a:ahLst/>
              <a:cxnLst/>
              <a:rect l="l" t="t" r="r" b="b"/>
              <a:pathLst>
                <a:path w="1149782" h="678007">
                  <a:moveTo>
                    <a:pt x="0" y="0"/>
                  </a:moveTo>
                  <a:lnTo>
                    <a:pt x="1149782" y="0"/>
                  </a:lnTo>
                  <a:lnTo>
                    <a:pt x="1149782" y="678007"/>
                  </a:lnTo>
                  <a:lnTo>
                    <a:pt x="0" y="678007"/>
                  </a:lnTo>
                  <a:close/>
                </a:path>
              </a:pathLst>
            </a:custGeom>
            <a:solidFill>
              <a:srgbClr val="545454"/>
            </a:solidFill>
          </p:spPr>
        </p:sp>
        <p:sp>
          <p:nvSpPr>
            <p:cNvPr id="10" name="TextBox 10"/>
            <p:cNvSpPr txBox="1"/>
            <p:nvPr/>
          </p:nvSpPr>
          <p:spPr>
            <a:xfrm>
              <a:off x="0" y="-38100"/>
              <a:ext cx="1149782" cy="71610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6825352" y="141605"/>
            <a:ext cx="4365578" cy="887095"/>
          </a:xfrm>
          <a:prstGeom prst="rect">
            <a:avLst/>
          </a:prstGeom>
        </p:spPr>
        <p:txBody>
          <a:bodyPr wrap="square" lIns="0" tIns="0" rIns="0" bIns="0" rtlCol="0" anchor="t">
            <a:spAutoFit/>
          </a:bodyPr>
          <a:lstStyle/>
          <a:p>
            <a:pPr algn="ctr">
              <a:lnSpc>
                <a:spcPts val="7279"/>
              </a:lnSpc>
            </a:pPr>
            <a:r>
              <a:rPr lang="en-US" sz="5199" b="1" dirty="0">
                <a:solidFill>
                  <a:srgbClr val="FF3131"/>
                </a:solidFill>
                <a:latin typeface="Canva Sans Bold"/>
                <a:ea typeface="Canva Sans Bold"/>
                <a:cs typeface="Canva Sans Bold"/>
                <a:sym typeface="Canva Sans Bold"/>
              </a:rPr>
              <a:t>Introduction</a:t>
            </a:r>
          </a:p>
        </p:txBody>
      </p:sp>
      <p:sp>
        <p:nvSpPr>
          <p:cNvPr id="12" name="TextBox 12"/>
          <p:cNvSpPr txBox="1"/>
          <p:nvPr/>
        </p:nvSpPr>
        <p:spPr>
          <a:xfrm>
            <a:off x="1233416" y="1676826"/>
            <a:ext cx="3853787" cy="1797050"/>
          </a:xfrm>
          <a:prstGeom prst="rect">
            <a:avLst/>
          </a:prstGeom>
        </p:spPr>
        <p:txBody>
          <a:bodyPr lIns="0" tIns="0" rIns="0" bIns="0" rtlCol="0" anchor="t">
            <a:spAutoFit/>
          </a:bodyPr>
          <a:lstStyle/>
          <a:p>
            <a:pPr algn="l">
              <a:lnSpc>
                <a:spcPts val="5179"/>
              </a:lnSpc>
            </a:pPr>
            <a:r>
              <a:rPr lang="en-US" sz="3699" b="1">
                <a:solidFill>
                  <a:srgbClr val="FF3131"/>
                </a:solidFill>
                <a:latin typeface="Canva Sans Bold"/>
                <a:ea typeface="Canva Sans Bold"/>
                <a:cs typeface="Canva Sans Bold"/>
                <a:sym typeface="Canva Sans Bold"/>
              </a:rPr>
              <a:t>1.35M+</a:t>
            </a:r>
          </a:p>
          <a:p>
            <a:pPr algn="l">
              <a:lnSpc>
                <a:spcPts val="4620"/>
              </a:lnSpc>
            </a:pPr>
            <a:r>
              <a:rPr lang="en-US" sz="3300">
                <a:solidFill>
                  <a:srgbClr val="FFFFFF"/>
                </a:solidFill>
                <a:latin typeface="Canva Sans"/>
                <a:ea typeface="Canva Sans"/>
                <a:cs typeface="Canva Sans"/>
                <a:sym typeface="Canva Sans"/>
              </a:rPr>
              <a:t>Road deaths per year globally.</a:t>
            </a:r>
          </a:p>
        </p:txBody>
      </p:sp>
      <p:sp>
        <p:nvSpPr>
          <p:cNvPr id="13" name="TextBox 13"/>
          <p:cNvSpPr txBox="1"/>
          <p:nvPr/>
        </p:nvSpPr>
        <p:spPr>
          <a:xfrm>
            <a:off x="7304947" y="1775239"/>
            <a:ext cx="3678106" cy="1778642"/>
          </a:xfrm>
          <a:prstGeom prst="rect">
            <a:avLst/>
          </a:prstGeom>
        </p:spPr>
        <p:txBody>
          <a:bodyPr lIns="0" tIns="0" rIns="0" bIns="0" rtlCol="0" anchor="t">
            <a:spAutoFit/>
          </a:bodyPr>
          <a:lstStyle/>
          <a:p>
            <a:pPr algn="just">
              <a:lnSpc>
                <a:spcPts val="5179"/>
              </a:lnSpc>
            </a:pPr>
            <a:r>
              <a:rPr lang="en-US" sz="3699" b="1">
                <a:solidFill>
                  <a:srgbClr val="FF3131"/>
                </a:solidFill>
                <a:latin typeface="Canva Sans Bold"/>
                <a:ea typeface="Canva Sans Bold"/>
                <a:cs typeface="Canva Sans Bold"/>
                <a:sym typeface="Canva Sans Bold"/>
              </a:rPr>
              <a:t>30%</a:t>
            </a:r>
          </a:p>
          <a:p>
            <a:pPr algn="just">
              <a:lnSpc>
                <a:spcPts val="4549"/>
              </a:lnSpc>
            </a:pPr>
            <a:r>
              <a:rPr lang="en-US" sz="3249">
                <a:solidFill>
                  <a:srgbClr val="FFFFFF"/>
                </a:solidFill>
                <a:latin typeface="Canva Sans"/>
                <a:ea typeface="Canva Sans"/>
                <a:cs typeface="Canva Sans"/>
                <a:sym typeface="Canva Sans"/>
              </a:rPr>
              <a:t>Caused by drowsy driving.</a:t>
            </a:r>
          </a:p>
        </p:txBody>
      </p:sp>
      <p:sp>
        <p:nvSpPr>
          <p:cNvPr id="14" name="TextBox 14"/>
          <p:cNvSpPr txBox="1"/>
          <p:nvPr/>
        </p:nvSpPr>
        <p:spPr>
          <a:xfrm>
            <a:off x="13069011" y="1775239"/>
            <a:ext cx="4190289" cy="1907540"/>
          </a:xfrm>
          <a:prstGeom prst="rect">
            <a:avLst/>
          </a:prstGeom>
        </p:spPr>
        <p:txBody>
          <a:bodyPr lIns="0" tIns="0" rIns="0" bIns="0" rtlCol="0" anchor="t">
            <a:spAutoFit/>
          </a:bodyPr>
          <a:lstStyle/>
          <a:p>
            <a:pPr algn="l">
              <a:lnSpc>
                <a:spcPts val="5179"/>
              </a:lnSpc>
              <a:spcBef>
                <a:spcPct val="0"/>
              </a:spcBef>
            </a:pPr>
            <a:r>
              <a:rPr lang="en-US" sz="3699" b="1">
                <a:solidFill>
                  <a:srgbClr val="FF3131"/>
                </a:solidFill>
                <a:latin typeface="Canva Sans Bold"/>
                <a:ea typeface="Canva Sans Bold"/>
                <a:cs typeface="Canva Sans Bold"/>
                <a:sym typeface="Canva Sans Bold"/>
              </a:rPr>
              <a:t>Real-Time</a:t>
            </a:r>
          </a:p>
          <a:p>
            <a:pPr algn="l">
              <a:lnSpc>
                <a:spcPts val="5039"/>
              </a:lnSpc>
              <a:spcBef>
                <a:spcPct val="0"/>
              </a:spcBef>
            </a:pPr>
            <a:r>
              <a:rPr lang="en-US" sz="3599">
                <a:solidFill>
                  <a:srgbClr val="FFFFFF"/>
                </a:solidFill>
                <a:latin typeface="Canva Sans"/>
                <a:ea typeface="Canva Sans"/>
                <a:cs typeface="Canva Sans"/>
                <a:sym typeface="Canva Sans"/>
              </a:rPr>
              <a:t>AI-based detection.</a:t>
            </a:r>
          </a:p>
        </p:txBody>
      </p:sp>
      <p:sp>
        <p:nvSpPr>
          <p:cNvPr id="15" name="TextBox 15"/>
          <p:cNvSpPr txBox="1"/>
          <p:nvPr/>
        </p:nvSpPr>
        <p:spPr>
          <a:xfrm>
            <a:off x="1028700" y="4857750"/>
            <a:ext cx="16230600" cy="4180840"/>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000000"/>
                </a:solidFill>
                <a:latin typeface="Canva Sans"/>
                <a:ea typeface="Canva Sans"/>
                <a:cs typeface="Canva Sans"/>
                <a:sym typeface="Canva Sans"/>
              </a:rPr>
              <a:t>Every year, impaired and inattentive driving claims over a million lives worldwide. Traditional driver assistance relies on reactive hardware sensors  this project takes a proactive, vision-based approach. By continuously analyzing a driver’s face and in-cabin environment, the system detects drowsiness, yawning, head distraction, and phone usage in real time  triggering immediate audible alerts before a critical event occurs.</a:t>
            </a:r>
          </a:p>
        </p:txBody>
      </p:sp>
      <p:sp>
        <p:nvSpPr>
          <p:cNvPr id="16" name="Freeform 16"/>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2"/>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996434" y="141605"/>
            <a:ext cx="6576566" cy="887095"/>
          </a:xfrm>
          <a:prstGeom prst="rect">
            <a:avLst/>
          </a:prstGeom>
        </p:spPr>
        <p:txBody>
          <a:bodyPr wrap="square" lIns="0" tIns="0" rIns="0" bIns="0" rtlCol="0" anchor="t">
            <a:spAutoFit/>
          </a:bodyPr>
          <a:lstStyle/>
          <a:p>
            <a:pPr algn="ctr">
              <a:lnSpc>
                <a:spcPts val="7279"/>
              </a:lnSpc>
            </a:pPr>
            <a:r>
              <a:rPr lang="en-US" sz="5199" b="1" dirty="0">
                <a:solidFill>
                  <a:srgbClr val="FF3131"/>
                </a:solidFill>
                <a:latin typeface="Canva Sans Bold"/>
                <a:ea typeface="Canva Sans Bold"/>
                <a:cs typeface="Canva Sans Bold"/>
                <a:sym typeface="Canva Sans Bold"/>
              </a:rPr>
              <a:t>Problem Statement</a:t>
            </a:r>
          </a:p>
        </p:txBody>
      </p:sp>
      <p:sp>
        <p:nvSpPr>
          <p:cNvPr id="3" name="TextBox 3"/>
          <p:cNvSpPr txBox="1"/>
          <p:nvPr/>
        </p:nvSpPr>
        <p:spPr>
          <a:xfrm>
            <a:off x="1021804" y="1408027"/>
            <a:ext cx="16230600" cy="1780540"/>
          </a:xfrm>
          <a:prstGeom prst="rect">
            <a:avLst/>
          </a:prstGeom>
        </p:spPr>
        <p:txBody>
          <a:bodyPr lIns="0" tIns="0" rIns="0" bIns="0" rtlCol="0" anchor="t">
            <a:spAutoFit/>
          </a:bodyPr>
          <a:lstStyle/>
          <a:p>
            <a:pPr algn="l">
              <a:lnSpc>
                <a:spcPts val="4759"/>
              </a:lnSpc>
            </a:pPr>
            <a:r>
              <a:rPr lang="en-US" sz="3399" b="1" dirty="0">
                <a:solidFill>
                  <a:srgbClr val="FF3131"/>
                </a:solidFill>
                <a:latin typeface="Canva Sans Bold"/>
                <a:ea typeface="Canva Sans Bold"/>
                <a:cs typeface="Canva Sans Bold"/>
                <a:sym typeface="Canva Sans Bold"/>
              </a:rPr>
              <a:t>Drowsy Driving</a:t>
            </a:r>
          </a:p>
          <a:p>
            <a:pPr marL="734059" lvl="1" indent="-367030" algn="l">
              <a:lnSpc>
                <a:spcPts val="4759"/>
              </a:lnSpc>
              <a:buFont typeface="Arial"/>
              <a:buChar char="•"/>
            </a:pPr>
            <a:r>
              <a:rPr lang="en-US" sz="3399" dirty="0">
                <a:solidFill>
                  <a:srgbClr val="000000"/>
                </a:solidFill>
                <a:latin typeface="Canva Sans"/>
                <a:ea typeface="Canva Sans"/>
                <a:cs typeface="Canva Sans"/>
                <a:sym typeface="Canva Sans"/>
              </a:rPr>
              <a:t>Micro-sleeps last 4–6 seconds. At 60 mph, that is 176 ft driven completely blind.</a:t>
            </a:r>
          </a:p>
        </p:txBody>
      </p:sp>
      <p:sp>
        <p:nvSpPr>
          <p:cNvPr id="4" name="TextBox 4"/>
          <p:cNvSpPr txBox="1"/>
          <p:nvPr/>
        </p:nvSpPr>
        <p:spPr>
          <a:xfrm>
            <a:off x="1021804" y="3744070"/>
            <a:ext cx="13913396" cy="1180465"/>
          </a:xfrm>
          <a:prstGeom prst="rect">
            <a:avLst/>
          </a:prstGeom>
        </p:spPr>
        <p:txBody>
          <a:bodyPr wrap="square" lIns="0" tIns="0" rIns="0" bIns="0" rtlCol="0" anchor="t">
            <a:spAutoFit/>
          </a:bodyPr>
          <a:lstStyle/>
          <a:p>
            <a:pPr algn="l">
              <a:lnSpc>
                <a:spcPts val="4759"/>
              </a:lnSpc>
            </a:pPr>
            <a:r>
              <a:rPr lang="en-US" sz="3399" b="1" dirty="0">
                <a:solidFill>
                  <a:srgbClr val="FF3131"/>
                </a:solidFill>
                <a:latin typeface="Canva Sans Bold"/>
                <a:ea typeface="Canva Sans Bold"/>
                <a:cs typeface="Canva Sans Bold"/>
                <a:sym typeface="Canva Sans Bold"/>
              </a:rPr>
              <a:t>Phone Distraction</a:t>
            </a:r>
          </a:p>
          <a:p>
            <a:pPr marL="734059" lvl="1" indent="-367030" algn="l">
              <a:lnSpc>
                <a:spcPts val="4759"/>
              </a:lnSpc>
              <a:buFont typeface="Arial"/>
              <a:buChar char="•"/>
            </a:pPr>
            <a:r>
              <a:rPr lang="en-US" sz="3399" dirty="0">
                <a:solidFill>
                  <a:srgbClr val="000000"/>
                </a:solidFill>
                <a:latin typeface="Canva Sans"/>
                <a:ea typeface="Canva Sans"/>
                <a:cs typeface="Canva Sans"/>
                <a:sym typeface="Canva Sans"/>
              </a:rPr>
              <a:t>Visual, cognitive, and manual distractions triple the crash risk.</a:t>
            </a:r>
          </a:p>
        </p:txBody>
      </p:sp>
      <p:sp>
        <p:nvSpPr>
          <p:cNvPr id="5" name="TextBox 5"/>
          <p:cNvSpPr txBox="1"/>
          <p:nvPr/>
        </p:nvSpPr>
        <p:spPr>
          <a:xfrm>
            <a:off x="1021804" y="5480038"/>
            <a:ext cx="16230600" cy="1805302"/>
          </a:xfrm>
          <a:prstGeom prst="rect">
            <a:avLst/>
          </a:prstGeom>
        </p:spPr>
        <p:txBody>
          <a:bodyPr wrap="square" lIns="0" tIns="0" rIns="0" bIns="0" rtlCol="0" anchor="t">
            <a:spAutoFit/>
          </a:bodyPr>
          <a:lstStyle/>
          <a:p>
            <a:pPr algn="l">
              <a:lnSpc>
                <a:spcPts val="4759"/>
              </a:lnSpc>
            </a:pPr>
            <a:r>
              <a:rPr lang="en-US" sz="3399" b="1" dirty="0">
                <a:solidFill>
                  <a:srgbClr val="FF3131"/>
                </a:solidFill>
                <a:latin typeface="Canva Sans Bold"/>
                <a:ea typeface="Canva Sans Bold"/>
                <a:cs typeface="Canva Sans Bold"/>
                <a:sym typeface="Canva Sans Bold"/>
              </a:rPr>
              <a:t>Yawning / Fatigue</a:t>
            </a:r>
          </a:p>
          <a:p>
            <a:pPr marL="734059" lvl="1" indent="-367030" algn="l">
              <a:lnSpc>
                <a:spcPts val="4759"/>
              </a:lnSpc>
              <a:buFont typeface="Arial"/>
              <a:buChar char="•"/>
            </a:pPr>
            <a:r>
              <a:rPr lang="en-US" sz="3399" dirty="0">
                <a:solidFill>
                  <a:srgbClr val="000000"/>
                </a:solidFill>
                <a:latin typeface="Canva Sans"/>
                <a:ea typeface="Canva Sans"/>
                <a:cs typeface="Canva Sans"/>
                <a:sym typeface="Canva Sans"/>
              </a:rPr>
              <a:t>Frequent yawning precedes sleep onset—an early-warning signal often missed.</a:t>
            </a:r>
          </a:p>
        </p:txBody>
      </p:sp>
      <p:sp>
        <p:nvSpPr>
          <p:cNvPr id="6" name="TextBox 6"/>
          <p:cNvSpPr txBox="1"/>
          <p:nvPr/>
        </p:nvSpPr>
        <p:spPr>
          <a:xfrm>
            <a:off x="1021804" y="7816081"/>
            <a:ext cx="15208796" cy="1180465"/>
          </a:xfrm>
          <a:prstGeom prst="rect">
            <a:avLst/>
          </a:prstGeom>
        </p:spPr>
        <p:txBody>
          <a:bodyPr wrap="square" lIns="0" tIns="0" rIns="0" bIns="0" rtlCol="0" anchor="t">
            <a:spAutoFit/>
          </a:bodyPr>
          <a:lstStyle/>
          <a:p>
            <a:pPr algn="l">
              <a:lnSpc>
                <a:spcPts val="4759"/>
              </a:lnSpc>
              <a:spcBef>
                <a:spcPct val="0"/>
              </a:spcBef>
            </a:pPr>
            <a:r>
              <a:rPr lang="en-US" sz="3399" b="1" dirty="0">
                <a:solidFill>
                  <a:srgbClr val="FF3131"/>
                </a:solidFill>
                <a:latin typeface="Canva Sans Bold"/>
                <a:ea typeface="Canva Sans Bold"/>
                <a:cs typeface="Canva Sans Bold"/>
                <a:sym typeface="Canva Sans Bold"/>
              </a:rPr>
              <a:t>Gaze Deviation</a:t>
            </a:r>
          </a:p>
          <a:p>
            <a:pPr marL="734059" lvl="1" indent="-367030" algn="l">
              <a:lnSpc>
                <a:spcPts val="4759"/>
              </a:lnSpc>
              <a:buFont typeface="Arial"/>
              <a:buChar char="•"/>
            </a:pPr>
            <a:r>
              <a:rPr lang="en-US" sz="3399" dirty="0">
                <a:solidFill>
                  <a:srgbClr val="000000"/>
                </a:solidFill>
                <a:latin typeface="Canva Sans"/>
                <a:ea typeface="Canva Sans"/>
                <a:cs typeface="Canva Sans"/>
                <a:sym typeface="Canva Sans"/>
              </a:rPr>
              <a:t>Looking away from the road for &gt;2 s is as dangerous as driving drunk.</a:t>
            </a:r>
          </a:p>
        </p:txBody>
      </p:sp>
      <p:sp>
        <p:nvSpPr>
          <p:cNvPr id="7" name="Freeform 7"/>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2"/>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27948" y="141605"/>
            <a:ext cx="6368852" cy="887095"/>
          </a:xfrm>
          <a:prstGeom prst="rect">
            <a:avLst/>
          </a:prstGeom>
        </p:spPr>
        <p:txBody>
          <a:bodyPr wrap="square" lIns="0" tIns="0" rIns="0" bIns="0" rtlCol="0" anchor="t">
            <a:spAutoFit/>
          </a:bodyPr>
          <a:lstStyle/>
          <a:p>
            <a:pPr algn="ctr">
              <a:lnSpc>
                <a:spcPts val="7279"/>
              </a:lnSpc>
            </a:pPr>
            <a:r>
              <a:rPr lang="en-US" sz="5199" b="1" dirty="0">
                <a:solidFill>
                  <a:srgbClr val="FF3131"/>
                </a:solidFill>
                <a:latin typeface="Canva Sans Bold"/>
                <a:ea typeface="Canva Sans Bold"/>
                <a:cs typeface="Canva Sans Bold"/>
                <a:sym typeface="Canva Sans Bold"/>
              </a:rPr>
              <a:t>Technologies Used</a:t>
            </a:r>
          </a:p>
        </p:txBody>
      </p:sp>
      <p:sp>
        <p:nvSpPr>
          <p:cNvPr id="3" name="TextBox 3"/>
          <p:cNvSpPr txBox="1"/>
          <p:nvPr/>
        </p:nvSpPr>
        <p:spPr>
          <a:xfrm>
            <a:off x="1028700" y="1118012"/>
            <a:ext cx="16005994" cy="1118870"/>
          </a:xfrm>
          <a:prstGeom prst="rect">
            <a:avLst/>
          </a:prstGeom>
        </p:spPr>
        <p:txBody>
          <a:bodyPr lIns="0" tIns="0" rIns="0" bIns="0" rtlCol="0" anchor="t">
            <a:spAutoFit/>
          </a:bodyPr>
          <a:lstStyle/>
          <a:p>
            <a:pPr algn="l">
              <a:lnSpc>
                <a:spcPts val="4759"/>
              </a:lnSpc>
            </a:pPr>
            <a:r>
              <a:rPr lang="en-US" sz="3399" b="1" dirty="0">
                <a:solidFill>
                  <a:srgbClr val="FF3131"/>
                </a:solidFill>
                <a:latin typeface="Canva Sans Bold"/>
                <a:ea typeface="Canva Sans Bold"/>
                <a:cs typeface="Canva Sans Bold"/>
                <a:sym typeface="Canva Sans Bold"/>
              </a:rPr>
              <a:t>OpenCV</a:t>
            </a:r>
          </a:p>
          <a:p>
            <a:pPr marL="647702" lvl="1" indent="-323851" algn="l">
              <a:lnSpc>
                <a:spcPts val="4200"/>
              </a:lnSpc>
              <a:buFont typeface="Arial"/>
              <a:buChar char="•"/>
            </a:pPr>
            <a:r>
              <a:rPr lang="en-US" sz="3000" dirty="0">
                <a:solidFill>
                  <a:srgbClr val="000000"/>
                </a:solidFill>
                <a:latin typeface="Canva Sans"/>
                <a:ea typeface="Canva Sans"/>
                <a:cs typeface="Canva Sans"/>
                <a:sym typeface="Canva Sans"/>
              </a:rPr>
              <a:t>Video capture, frame processing, bounding-box drawing, and display loop.</a:t>
            </a:r>
          </a:p>
        </p:txBody>
      </p:sp>
      <p:sp>
        <p:nvSpPr>
          <p:cNvPr id="4" name="TextBox 4"/>
          <p:cNvSpPr txBox="1"/>
          <p:nvPr/>
        </p:nvSpPr>
        <p:spPr>
          <a:xfrm>
            <a:off x="1028700" y="2520645"/>
            <a:ext cx="14439900" cy="1127125"/>
          </a:xfrm>
          <a:prstGeom prst="rect">
            <a:avLst/>
          </a:prstGeom>
        </p:spPr>
        <p:txBody>
          <a:bodyPr wrap="square" lIns="0" tIns="0" rIns="0" bIns="0" rtlCol="0" anchor="t">
            <a:spAutoFit/>
          </a:bodyPr>
          <a:lstStyle/>
          <a:p>
            <a:pPr algn="l">
              <a:lnSpc>
                <a:spcPts val="4759"/>
              </a:lnSpc>
            </a:pPr>
            <a:r>
              <a:rPr lang="en-US" sz="3399" b="1" dirty="0" err="1">
                <a:solidFill>
                  <a:srgbClr val="FF3131"/>
                </a:solidFill>
                <a:latin typeface="Canva Sans Bold"/>
                <a:ea typeface="Canva Sans Bold"/>
                <a:cs typeface="Canva Sans Bold"/>
                <a:sym typeface="Canva Sans Bold"/>
              </a:rPr>
              <a:t>MediaPipe</a:t>
            </a:r>
            <a:endParaRPr lang="en-US" sz="3399" b="1" dirty="0">
              <a:solidFill>
                <a:srgbClr val="FF3131"/>
              </a:solidFill>
              <a:latin typeface="Canva Sans Bold"/>
              <a:ea typeface="Canva Sans Bold"/>
              <a:cs typeface="Canva Sans Bold"/>
              <a:sym typeface="Canva Sans Bold"/>
            </a:endParaRPr>
          </a:p>
          <a:p>
            <a:pPr marL="669291" lvl="1" indent="-334646" algn="l">
              <a:lnSpc>
                <a:spcPts val="4340"/>
              </a:lnSpc>
              <a:buFont typeface="Arial"/>
              <a:buChar char="•"/>
            </a:pPr>
            <a:r>
              <a:rPr lang="en-US" sz="3100" dirty="0">
                <a:solidFill>
                  <a:srgbClr val="000000"/>
                </a:solidFill>
                <a:latin typeface="Canva Sans"/>
                <a:ea typeface="Canva Sans"/>
                <a:cs typeface="Canva Sans"/>
                <a:sym typeface="Canva Sans"/>
              </a:rPr>
              <a:t>478-point 3-D face mesh; EAR / MAR computation and head-pose inputs.</a:t>
            </a:r>
          </a:p>
        </p:txBody>
      </p:sp>
      <p:sp>
        <p:nvSpPr>
          <p:cNvPr id="5" name="TextBox 5"/>
          <p:cNvSpPr txBox="1"/>
          <p:nvPr/>
        </p:nvSpPr>
        <p:spPr>
          <a:xfrm>
            <a:off x="1028700" y="3931532"/>
            <a:ext cx="12382500" cy="1118870"/>
          </a:xfrm>
          <a:prstGeom prst="rect">
            <a:avLst/>
          </a:prstGeom>
        </p:spPr>
        <p:txBody>
          <a:bodyPr wrap="square" lIns="0" tIns="0" rIns="0" bIns="0" rtlCol="0" anchor="t">
            <a:spAutoFit/>
          </a:bodyPr>
          <a:lstStyle/>
          <a:p>
            <a:pPr algn="l">
              <a:lnSpc>
                <a:spcPts val="4759"/>
              </a:lnSpc>
            </a:pPr>
            <a:r>
              <a:rPr lang="en-US" sz="3399" b="1" dirty="0">
                <a:solidFill>
                  <a:srgbClr val="FF3131"/>
                </a:solidFill>
                <a:latin typeface="Canva Sans Bold"/>
                <a:ea typeface="Canva Sans Bold"/>
                <a:cs typeface="Canva Sans Bold"/>
                <a:sym typeface="Canva Sans Bold"/>
              </a:rPr>
              <a:t>YOLOv8</a:t>
            </a:r>
          </a:p>
          <a:p>
            <a:pPr marL="647702" lvl="1" indent="-323851" algn="l">
              <a:lnSpc>
                <a:spcPts val="4200"/>
              </a:lnSpc>
              <a:buFont typeface="Arial"/>
              <a:buChar char="•"/>
            </a:pPr>
            <a:r>
              <a:rPr lang="en-US" sz="3000" dirty="0">
                <a:solidFill>
                  <a:srgbClr val="000000"/>
                </a:solidFill>
                <a:latin typeface="Canva Sans"/>
                <a:ea typeface="Canva Sans"/>
                <a:cs typeface="Canva Sans"/>
                <a:sym typeface="Canva Sans"/>
              </a:rPr>
              <a:t>Real-time object detection (cell phone); runs on GPU via CUDA.</a:t>
            </a:r>
          </a:p>
        </p:txBody>
      </p:sp>
      <p:sp>
        <p:nvSpPr>
          <p:cNvPr id="6" name="TextBox 6"/>
          <p:cNvSpPr txBox="1"/>
          <p:nvPr/>
        </p:nvSpPr>
        <p:spPr>
          <a:xfrm>
            <a:off x="1028700" y="5334165"/>
            <a:ext cx="12534900" cy="1118870"/>
          </a:xfrm>
          <a:prstGeom prst="rect">
            <a:avLst/>
          </a:prstGeom>
        </p:spPr>
        <p:txBody>
          <a:bodyPr wrap="square" lIns="0" tIns="0" rIns="0" bIns="0" rtlCol="0" anchor="t">
            <a:spAutoFit/>
          </a:bodyPr>
          <a:lstStyle/>
          <a:p>
            <a:pPr algn="l">
              <a:lnSpc>
                <a:spcPts val="4759"/>
              </a:lnSpc>
              <a:spcBef>
                <a:spcPct val="0"/>
              </a:spcBef>
            </a:pPr>
            <a:r>
              <a:rPr lang="en-US" sz="3399" b="1" dirty="0" err="1">
                <a:solidFill>
                  <a:srgbClr val="FF3131"/>
                </a:solidFill>
                <a:latin typeface="Canva Sans Bold"/>
                <a:ea typeface="Canva Sans Bold"/>
                <a:cs typeface="Canva Sans Bold"/>
                <a:sym typeface="Canva Sans Bold"/>
              </a:rPr>
              <a:t>PyTorch</a:t>
            </a:r>
            <a:endParaRPr lang="en-US" sz="3399" b="1" dirty="0">
              <a:solidFill>
                <a:srgbClr val="FF3131"/>
              </a:solidFill>
              <a:latin typeface="Canva Sans Bold"/>
              <a:ea typeface="Canva Sans Bold"/>
              <a:cs typeface="Canva Sans Bold"/>
              <a:sym typeface="Canva Sans Bold"/>
            </a:endParaRPr>
          </a:p>
          <a:p>
            <a:pPr marL="647702" lvl="1" indent="-323851" algn="l">
              <a:lnSpc>
                <a:spcPts val="4200"/>
              </a:lnSpc>
              <a:buFont typeface="Arial"/>
              <a:buChar char="•"/>
            </a:pPr>
            <a:r>
              <a:rPr lang="en-US" sz="3000" dirty="0">
                <a:solidFill>
                  <a:srgbClr val="000000"/>
                </a:solidFill>
                <a:latin typeface="Canva Sans"/>
                <a:ea typeface="Canva Sans"/>
                <a:cs typeface="Canva Sans"/>
                <a:sym typeface="Canva Sans"/>
              </a:rPr>
              <a:t>GPU/CPU device selection &amp; model hosting for YOLO inference.</a:t>
            </a:r>
          </a:p>
        </p:txBody>
      </p:sp>
      <p:sp>
        <p:nvSpPr>
          <p:cNvPr id="7" name="TextBox 7"/>
          <p:cNvSpPr txBox="1"/>
          <p:nvPr/>
        </p:nvSpPr>
        <p:spPr>
          <a:xfrm>
            <a:off x="1028699" y="6736798"/>
            <a:ext cx="12382499" cy="1118870"/>
          </a:xfrm>
          <a:prstGeom prst="rect">
            <a:avLst/>
          </a:prstGeom>
        </p:spPr>
        <p:txBody>
          <a:bodyPr wrap="square" lIns="0" tIns="0" rIns="0" bIns="0" rtlCol="0" anchor="t">
            <a:spAutoFit/>
          </a:bodyPr>
          <a:lstStyle/>
          <a:p>
            <a:pPr algn="l">
              <a:lnSpc>
                <a:spcPts val="4759"/>
              </a:lnSpc>
              <a:spcBef>
                <a:spcPct val="0"/>
              </a:spcBef>
            </a:pPr>
            <a:r>
              <a:rPr lang="en-US" sz="3399" b="1" dirty="0">
                <a:solidFill>
                  <a:srgbClr val="FF3131"/>
                </a:solidFill>
                <a:latin typeface="Canva Sans Bold"/>
                <a:ea typeface="Canva Sans Bold"/>
                <a:cs typeface="Canva Sans Bold"/>
                <a:sym typeface="Canva Sans Bold"/>
              </a:rPr>
              <a:t>Pandas</a:t>
            </a:r>
          </a:p>
          <a:p>
            <a:pPr marL="647702" lvl="1" indent="-323851" algn="l">
              <a:lnSpc>
                <a:spcPts val="4200"/>
              </a:lnSpc>
              <a:buFont typeface="Arial"/>
              <a:buChar char="•"/>
            </a:pPr>
            <a:r>
              <a:rPr lang="en-US" sz="3000" dirty="0">
                <a:solidFill>
                  <a:srgbClr val="000000"/>
                </a:solidFill>
                <a:latin typeface="Canva Sans"/>
                <a:ea typeface="Canva Sans"/>
                <a:cs typeface="Canva Sans"/>
                <a:sym typeface="Canva Sans"/>
              </a:rPr>
              <a:t>Per-frame telemetry logging; CSV read/write for session replay.</a:t>
            </a:r>
          </a:p>
        </p:txBody>
      </p:sp>
      <p:sp>
        <p:nvSpPr>
          <p:cNvPr id="8" name="TextBox 8"/>
          <p:cNvSpPr txBox="1"/>
          <p:nvPr/>
        </p:nvSpPr>
        <p:spPr>
          <a:xfrm>
            <a:off x="1028700" y="8139430"/>
            <a:ext cx="12382498" cy="1118870"/>
          </a:xfrm>
          <a:prstGeom prst="rect">
            <a:avLst/>
          </a:prstGeom>
        </p:spPr>
        <p:txBody>
          <a:bodyPr wrap="square" lIns="0" tIns="0" rIns="0" bIns="0" rtlCol="0" anchor="t">
            <a:spAutoFit/>
          </a:bodyPr>
          <a:lstStyle/>
          <a:p>
            <a:pPr algn="l">
              <a:lnSpc>
                <a:spcPts val="4759"/>
              </a:lnSpc>
            </a:pPr>
            <a:r>
              <a:rPr lang="en-US" sz="3399" b="1" dirty="0">
                <a:solidFill>
                  <a:srgbClr val="FF3131"/>
                </a:solidFill>
                <a:latin typeface="Canva Sans Bold"/>
                <a:ea typeface="Canva Sans Bold"/>
                <a:cs typeface="Canva Sans Bold"/>
                <a:sym typeface="Canva Sans Bold"/>
              </a:rPr>
              <a:t>Matplotlib</a:t>
            </a:r>
          </a:p>
          <a:p>
            <a:pPr marL="647702" lvl="1" indent="-323851" algn="l">
              <a:lnSpc>
                <a:spcPts val="4200"/>
              </a:lnSpc>
              <a:buFont typeface="Arial"/>
              <a:buChar char="•"/>
            </a:pPr>
            <a:r>
              <a:rPr lang="en-US" sz="3000" dirty="0">
                <a:solidFill>
                  <a:srgbClr val="000000"/>
                </a:solidFill>
                <a:latin typeface="Canva Sans"/>
                <a:ea typeface="Canva Sans"/>
                <a:cs typeface="Canva Sans"/>
                <a:sym typeface="Canva Sans"/>
              </a:rPr>
              <a:t>Post-session analytics: bar, pie, heatmap, signal and risk charts.</a:t>
            </a:r>
          </a:p>
        </p:txBody>
      </p:sp>
      <p:sp>
        <p:nvSpPr>
          <p:cNvPr id="9" name="Freeform 9"/>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2"/>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52800" y="1028700"/>
            <a:ext cx="11557448" cy="8229600"/>
          </a:xfrm>
          <a:custGeom>
            <a:avLst/>
            <a:gdLst/>
            <a:ahLst/>
            <a:cxnLst/>
            <a:rect l="l" t="t" r="r" b="b"/>
            <a:pathLst>
              <a:path w="11557448" h="8229600">
                <a:moveTo>
                  <a:pt x="0" y="0"/>
                </a:moveTo>
                <a:lnTo>
                  <a:pt x="11557448" y="0"/>
                </a:lnTo>
                <a:lnTo>
                  <a:pt x="11557448" y="8229600"/>
                </a:lnTo>
                <a:lnTo>
                  <a:pt x="0" y="8229600"/>
                </a:lnTo>
                <a:lnTo>
                  <a:pt x="0" y="0"/>
                </a:lnTo>
                <a:close/>
              </a:path>
            </a:pathLst>
          </a:custGeom>
          <a:blipFill>
            <a:blip r:embed="rId2"/>
            <a:stretch>
              <a:fillRect r="-1180"/>
            </a:stretch>
          </a:blipFill>
        </p:spPr>
      </p:sp>
      <p:sp>
        <p:nvSpPr>
          <p:cNvPr id="3" name="TextBox 3"/>
          <p:cNvSpPr txBox="1"/>
          <p:nvPr/>
        </p:nvSpPr>
        <p:spPr>
          <a:xfrm>
            <a:off x="5837436" y="141605"/>
            <a:ext cx="6887964" cy="887095"/>
          </a:xfrm>
          <a:prstGeom prst="rect">
            <a:avLst/>
          </a:prstGeom>
        </p:spPr>
        <p:txBody>
          <a:bodyPr wrap="square" lIns="0" tIns="0" rIns="0" bIns="0" rtlCol="0" anchor="t">
            <a:spAutoFit/>
          </a:bodyPr>
          <a:lstStyle/>
          <a:p>
            <a:pPr algn="ctr">
              <a:lnSpc>
                <a:spcPts val="7279"/>
              </a:lnSpc>
            </a:pPr>
            <a:r>
              <a:rPr lang="en-US" sz="5199" b="1" dirty="0">
                <a:solidFill>
                  <a:srgbClr val="FF3131"/>
                </a:solidFill>
                <a:latin typeface="Canva Sans Bold"/>
                <a:ea typeface="Canva Sans Bold"/>
                <a:cs typeface="Canva Sans Bold"/>
                <a:sym typeface="Canva Sans Bold"/>
              </a:rPr>
              <a:t>System Architecture</a:t>
            </a:r>
          </a:p>
        </p:txBody>
      </p:sp>
      <p:sp>
        <p:nvSpPr>
          <p:cNvPr id="4" name="Freeform 4"/>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3"/>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738633" y="1789174"/>
            <a:ext cx="7520667" cy="6063538"/>
          </a:xfrm>
          <a:custGeom>
            <a:avLst/>
            <a:gdLst/>
            <a:ahLst/>
            <a:cxnLst/>
            <a:rect l="l" t="t" r="r" b="b"/>
            <a:pathLst>
              <a:path w="7520667" h="6063538">
                <a:moveTo>
                  <a:pt x="0" y="0"/>
                </a:moveTo>
                <a:lnTo>
                  <a:pt x="7520667" y="0"/>
                </a:lnTo>
                <a:lnTo>
                  <a:pt x="7520667" y="6063538"/>
                </a:lnTo>
                <a:lnTo>
                  <a:pt x="0" y="6063538"/>
                </a:lnTo>
                <a:lnTo>
                  <a:pt x="0" y="0"/>
                </a:lnTo>
                <a:close/>
              </a:path>
            </a:pathLst>
          </a:custGeom>
          <a:blipFill>
            <a:blip r:embed="rId2"/>
            <a:stretch>
              <a:fillRect/>
            </a:stretch>
          </a:blipFill>
        </p:spPr>
      </p:sp>
      <p:sp>
        <p:nvSpPr>
          <p:cNvPr id="3" name="TextBox 3"/>
          <p:cNvSpPr txBox="1"/>
          <p:nvPr/>
        </p:nvSpPr>
        <p:spPr>
          <a:xfrm>
            <a:off x="1028700" y="141605"/>
            <a:ext cx="7277100" cy="887095"/>
          </a:xfrm>
          <a:prstGeom prst="rect">
            <a:avLst/>
          </a:prstGeom>
        </p:spPr>
        <p:txBody>
          <a:bodyPr wrap="square" lIns="0" tIns="0" rIns="0" bIns="0" rtlCol="0" anchor="t">
            <a:spAutoFit/>
          </a:bodyPr>
          <a:lstStyle/>
          <a:p>
            <a:pPr algn="ctr">
              <a:lnSpc>
                <a:spcPts val="7279"/>
              </a:lnSpc>
            </a:pPr>
            <a:r>
              <a:rPr lang="en-US" sz="5199" b="1" dirty="0">
                <a:solidFill>
                  <a:srgbClr val="FF3131"/>
                </a:solidFill>
                <a:latin typeface="Canva Sans Bold"/>
                <a:ea typeface="Canva Sans Bold"/>
                <a:cs typeface="Canva Sans Bold"/>
                <a:sym typeface="Canva Sans Bold"/>
              </a:rPr>
              <a:t>Drowsiness Detection</a:t>
            </a:r>
          </a:p>
        </p:txBody>
      </p:sp>
      <p:sp>
        <p:nvSpPr>
          <p:cNvPr id="4" name="TextBox 4"/>
          <p:cNvSpPr txBox="1"/>
          <p:nvPr/>
        </p:nvSpPr>
        <p:spPr>
          <a:xfrm>
            <a:off x="1028700" y="1332254"/>
            <a:ext cx="8115300" cy="3488690"/>
          </a:xfrm>
          <a:prstGeom prst="rect">
            <a:avLst/>
          </a:prstGeom>
        </p:spPr>
        <p:txBody>
          <a:bodyPr lIns="0" tIns="0" rIns="0" bIns="0" rtlCol="0" anchor="t">
            <a:spAutoFit/>
          </a:bodyPr>
          <a:lstStyle/>
          <a:p>
            <a:pPr algn="l">
              <a:lnSpc>
                <a:spcPts val="4200"/>
              </a:lnSpc>
            </a:pPr>
            <a:r>
              <a:rPr lang="en-US" sz="3000" b="1">
                <a:solidFill>
                  <a:srgbClr val="FF3131"/>
                </a:solidFill>
                <a:latin typeface="Canva Sans Bold"/>
                <a:ea typeface="Canva Sans Bold"/>
                <a:cs typeface="Canva Sans Bold"/>
                <a:sym typeface="Canva Sans Bold"/>
              </a:rPr>
              <a:t>1. Real-Time Drowsiness Detection</a:t>
            </a:r>
          </a:p>
          <a:p>
            <a:pPr marL="604523" lvl="1" indent="-302261" algn="l">
              <a:lnSpc>
                <a:spcPts val="3920"/>
              </a:lnSpc>
              <a:buFont typeface="Arial"/>
              <a:buChar char="•"/>
            </a:pPr>
            <a:r>
              <a:rPr lang="en-US" sz="2800">
                <a:solidFill>
                  <a:srgbClr val="000000"/>
                </a:solidFill>
                <a:latin typeface="Canva Sans"/>
                <a:ea typeface="Canva Sans"/>
                <a:cs typeface="Canva Sans"/>
                <a:sym typeface="Canva Sans"/>
              </a:rPr>
              <a:t>The system successfully detects closed eyes continuously, identifying a drowsy state in real time.</a:t>
            </a:r>
          </a:p>
          <a:p>
            <a:pPr marL="604523" lvl="1" indent="-302261" algn="l">
              <a:lnSpc>
                <a:spcPts val="3920"/>
              </a:lnSpc>
              <a:buFont typeface="Arial"/>
              <a:buChar char="•"/>
            </a:pPr>
            <a:r>
              <a:rPr lang="en-US" sz="2800">
                <a:solidFill>
                  <a:srgbClr val="000000"/>
                </a:solidFill>
                <a:latin typeface="Canva Sans"/>
                <a:ea typeface="Canva Sans"/>
                <a:cs typeface="Canva Sans"/>
                <a:sym typeface="Canva Sans"/>
              </a:rPr>
              <a:t>This shows that the EAR (Eye Aspect Ratio) + frame threshold logic is working effectively.</a:t>
            </a:r>
          </a:p>
        </p:txBody>
      </p:sp>
      <p:sp>
        <p:nvSpPr>
          <p:cNvPr id="5" name="TextBox 5"/>
          <p:cNvSpPr txBox="1"/>
          <p:nvPr/>
        </p:nvSpPr>
        <p:spPr>
          <a:xfrm>
            <a:off x="1028700" y="5125743"/>
            <a:ext cx="8115300" cy="3983990"/>
          </a:xfrm>
          <a:prstGeom prst="rect">
            <a:avLst/>
          </a:prstGeom>
        </p:spPr>
        <p:txBody>
          <a:bodyPr lIns="0" tIns="0" rIns="0" bIns="0" rtlCol="0" anchor="t">
            <a:spAutoFit/>
          </a:bodyPr>
          <a:lstStyle/>
          <a:p>
            <a:pPr algn="just">
              <a:lnSpc>
                <a:spcPts val="4200"/>
              </a:lnSpc>
            </a:pPr>
            <a:r>
              <a:rPr lang="en-US" sz="3000" b="1">
                <a:solidFill>
                  <a:srgbClr val="FF3131"/>
                </a:solidFill>
                <a:latin typeface="Canva Sans Bold"/>
                <a:ea typeface="Canva Sans Bold"/>
                <a:cs typeface="Canva Sans Bold"/>
                <a:sym typeface="Canva Sans Bold"/>
              </a:rPr>
              <a:t>2. Immediate Alert &amp; Safety Response</a:t>
            </a:r>
          </a:p>
          <a:p>
            <a:pPr marL="604523" lvl="1" indent="-302261" algn="just">
              <a:lnSpc>
                <a:spcPts val="3920"/>
              </a:lnSpc>
              <a:buFont typeface="Arial"/>
              <a:buChar char="•"/>
            </a:pPr>
            <a:r>
              <a:rPr lang="en-US" sz="2800">
                <a:solidFill>
                  <a:srgbClr val="000000"/>
                </a:solidFill>
                <a:latin typeface="Canva Sans"/>
                <a:ea typeface="Canva Sans"/>
                <a:cs typeface="Canva Sans"/>
                <a:sym typeface="Canva Sans"/>
              </a:rPr>
              <a:t>Once drowsiness is detected, the system instantly labels the driver as “DROWSY” on screen.</a:t>
            </a:r>
          </a:p>
          <a:p>
            <a:pPr marL="604523" lvl="1" indent="-302261" algn="just">
              <a:lnSpc>
                <a:spcPts val="3920"/>
              </a:lnSpc>
              <a:buFont typeface="Arial"/>
              <a:buChar char="•"/>
            </a:pPr>
            <a:r>
              <a:rPr lang="en-US" sz="2800">
                <a:solidFill>
                  <a:srgbClr val="000000"/>
                </a:solidFill>
                <a:latin typeface="Canva Sans"/>
                <a:ea typeface="Canva Sans"/>
                <a:cs typeface="Canva Sans"/>
                <a:sym typeface="Canva Sans"/>
              </a:rPr>
              <a:t>This enables early warning, helping prevent accidents by alerting the driver at the right moment.</a:t>
            </a:r>
          </a:p>
          <a:p>
            <a:pPr algn="just">
              <a:lnSpc>
                <a:spcPts val="3920"/>
              </a:lnSpc>
            </a:pPr>
            <a:endParaRPr lang="en-US" sz="2800">
              <a:solidFill>
                <a:srgbClr val="000000"/>
              </a:solidFill>
              <a:latin typeface="Canva Sans"/>
              <a:ea typeface="Canva Sans"/>
              <a:cs typeface="Canva Sans"/>
              <a:sym typeface="Canva Sans"/>
            </a:endParaRPr>
          </a:p>
        </p:txBody>
      </p:sp>
      <p:sp>
        <p:nvSpPr>
          <p:cNvPr id="6" name="Freeform 6"/>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3"/>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655204" y="2120872"/>
            <a:ext cx="7604096" cy="6045256"/>
          </a:xfrm>
          <a:custGeom>
            <a:avLst/>
            <a:gdLst/>
            <a:ahLst/>
            <a:cxnLst/>
            <a:rect l="l" t="t" r="r" b="b"/>
            <a:pathLst>
              <a:path w="7604096" h="6045256">
                <a:moveTo>
                  <a:pt x="0" y="0"/>
                </a:moveTo>
                <a:lnTo>
                  <a:pt x="7604096" y="0"/>
                </a:lnTo>
                <a:lnTo>
                  <a:pt x="7604096" y="6045256"/>
                </a:lnTo>
                <a:lnTo>
                  <a:pt x="0" y="6045256"/>
                </a:lnTo>
                <a:lnTo>
                  <a:pt x="0" y="0"/>
                </a:lnTo>
                <a:close/>
              </a:path>
            </a:pathLst>
          </a:custGeom>
          <a:blipFill>
            <a:blip r:embed="rId2"/>
            <a:stretch>
              <a:fillRect/>
            </a:stretch>
          </a:blipFill>
        </p:spPr>
      </p:sp>
      <p:sp>
        <p:nvSpPr>
          <p:cNvPr id="3" name="TextBox 3"/>
          <p:cNvSpPr txBox="1"/>
          <p:nvPr/>
        </p:nvSpPr>
        <p:spPr>
          <a:xfrm>
            <a:off x="1028700" y="141605"/>
            <a:ext cx="6189464" cy="887095"/>
          </a:xfrm>
          <a:prstGeom prst="rect">
            <a:avLst/>
          </a:prstGeom>
        </p:spPr>
        <p:txBody>
          <a:bodyPr lIns="0" tIns="0" rIns="0" bIns="0" rtlCol="0" anchor="t">
            <a:spAutoFit/>
          </a:bodyPr>
          <a:lstStyle/>
          <a:p>
            <a:pPr algn="ctr">
              <a:lnSpc>
                <a:spcPts val="7279"/>
              </a:lnSpc>
              <a:spcBef>
                <a:spcPct val="0"/>
              </a:spcBef>
            </a:pPr>
            <a:r>
              <a:rPr lang="en-US" sz="5199" b="1">
                <a:solidFill>
                  <a:srgbClr val="FF3131"/>
                </a:solidFill>
                <a:latin typeface="Canva Sans Bold"/>
                <a:ea typeface="Canva Sans Bold"/>
                <a:cs typeface="Canva Sans Bold"/>
                <a:sym typeface="Canva Sans Bold"/>
              </a:rPr>
              <a:t>Yawning Detection </a:t>
            </a:r>
          </a:p>
        </p:txBody>
      </p:sp>
      <p:sp>
        <p:nvSpPr>
          <p:cNvPr id="4" name="TextBox 4"/>
          <p:cNvSpPr txBox="1"/>
          <p:nvPr/>
        </p:nvSpPr>
        <p:spPr>
          <a:xfrm>
            <a:off x="1028700" y="1724627"/>
            <a:ext cx="8267700" cy="4022090"/>
          </a:xfrm>
          <a:prstGeom prst="rect">
            <a:avLst/>
          </a:prstGeom>
        </p:spPr>
        <p:txBody>
          <a:bodyPr wrap="square" lIns="0" tIns="0" rIns="0" bIns="0" rtlCol="0" anchor="t">
            <a:spAutoFit/>
          </a:bodyPr>
          <a:lstStyle/>
          <a:p>
            <a:pPr algn="l">
              <a:lnSpc>
                <a:spcPts val="4200"/>
              </a:lnSpc>
            </a:pPr>
            <a:r>
              <a:rPr lang="en-US" sz="3000" b="1" dirty="0">
                <a:solidFill>
                  <a:srgbClr val="FF3131"/>
                </a:solidFill>
                <a:latin typeface="Canva Sans Bold"/>
                <a:ea typeface="Canva Sans Bold"/>
                <a:cs typeface="Canva Sans Bold"/>
                <a:sym typeface="Canva Sans Bold"/>
              </a:rPr>
              <a:t>1. Yawning Detection Using Mouth Aspect Ratio (MAR)</a:t>
            </a:r>
          </a:p>
          <a:p>
            <a:pPr marL="604523" lvl="1" indent="-302261" algn="just">
              <a:lnSpc>
                <a:spcPts val="3920"/>
              </a:lnSpc>
              <a:buFont typeface="Arial"/>
              <a:buChar char="•"/>
            </a:pPr>
            <a:r>
              <a:rPr lang="en-US" sz="2800" dirty="0">
                <a:solidFill>
                  <a:srgbClr val="000000"/>
                </a:solidFill>
                <a:latin typeface="Canva Sans"/>
                <a:ea typeface="Canva Sans"/>
                <a:cs typeface="Canva Sans"/>
                <a:sym typeface="Canva Sans"/>
              </a:rPr>
              <a:t>The system detects yawning by measuring mouth opening (MAR) using facial landmarks.</a:t>
            </a:r>
          </a:p>
          <a:p>
            <a:pPr marL="604523" lvl="1" indent="-302261" algn="ctr">
              <a:lnSpc>
                <a:spcPts val="3920"/>
              </a:lnSpc>
              <a:buFont typeface="Arial"/>
              <a:buChar char="•"/>
            </a:pPr>
            <a:r>
              <a:rPr lang="en-US" sz="2800" dirty="0">
                <a:solidFill>
                  <a:srgbClr val="000000"/>
                </a:solidFill>
                <a:latin typeface="Canva Sans"/>
                <a:ea typeface="Canva Sans"/>
                <a:cs typeface="Canva Sans"/>
                <a:sym typeface="Canva Sans"/>
              </a:rPr>
              <a:t>A wide-open mouth sustained over multiple frames is correctly classified as “YAWNING.”</a:t>
            </a:r>
          </a:p>
          <a:p>
            <a:pPr algn="ctr">
              <a:lnSpc>
                <a:spcPts val="3920"/>
              </a:lnSpc>
            </a:pPr>
            <a:endParaRPr lang="en-US" sz="2800" dirty="0">
              <a:solidFill>
                <a:srgbClr val="000000"/>
              </a:solidFill>
              <a:latin typeface="Canva Sans"/>
              <a:ea typeface="Canva Sans"/>
              <a:cs typeface="Canva Sans"/>
              <a:sym typeface="Canva Sans"/>
            </a:endParaRPr>
          </a:p>
        </p:txBody>
      </p:sp>
      <p:sp>
        <p:nvSpPr>
          <p:cNvPr id="5" name="TextBox 5"/>
          <p:cNvSpPr txBox="1"/>
          <p:nvPr/>
        </p:nvSpPr>
        <p:spPr>
          <a:xfrm>
            <a:off x="1028700" y="5515610"/>
            <a:ext cx="8115300" cy="3488690"/>
          </a:xfrm>
          <a:prstGeom prst="rect">
            <a:avLst/>
          </a:prstGeom>
        </p:spPr>
        <p:txBody>
          <a:bodyPr lIns="0" tIns="0" rIns="0" bIns="0" rtlCol="0" anchor="t">
            <a:spAutoFit/>
          </a:bodyPr>
          <a:lstStyle/>
          <a:p>
            <a:pPr algn="l">
              <a:lnSpc>
                <a:spcPts val="4200"/>
              </a:lnSpc>
            </a:pPr>
            <a:r>
              <a:rPr lang="en-US" sz="3000" b="1">
                <a:solidFill>
                  <a:srgbClr val="FF3131"/>
                </a:solidFill>
                <a:latin typeface="Canva Sans Bold"/>
                <a:ea typeface="Canva Sans Bold"/>
                <a:cs typeface="Canva Sans Bold"/>
                <a:sym typeface="Canva Sans Bold"/>
              </a:rPr>
              <a:t>2. Early Indicator of Driver Fatigue</a:t>
            </a:r>
          </a:p>
          <a:p>
            <a:pPr marL="604523" lvl="1" indent="-302261" algn="just">
              <a:lnSpc>
                <a:spcPts val="3920"/>
              </a:lnSpc>
              <a:buFont typeface="Arial"/>
              <a:buChar char="•"/>
            </a:pPr>
            <a:r>
              <a:rPr lang="en-US" sz="2800">
                <a:solidFill>
                  <a:srgbClr val="000000"/>
                </a:solidFill>
                <a:latin typeface="Canva Sans"/>
                <a:ea typeface="Canva Sans"/>
                <a:cs typeface="Canva Sans"/>
                <a:sym typeface="Canva Sans"/>
              </a:rPr>
              <a:t>Yawning is identified as a pre-drowsiness signal, helping detect fatigue before sleep occurs.</a:t>
            </a:r>
          </a:p>
          <a:p>
            <a:pPr marL="604523" lvl="1" indent="-302261" algn="just">
              <a:lnSpc>
                <a:spcPts val="3920"/>
              </a:lnSpc>
              <a:buFont typeface="Arial"/>
              <a:buChar char="•"/>
            </a:pPr>
            <a:r>
              <a:rPr lang="en-US" sz="2800">
                <a:solidFill>
                  <a:srgbClr val="000000"/>
                </a:solidFill>
                <a:latin typeface="Canva Sans"/>
                <a:ea typeface="Canva Sans"/>
                <a:cs typeface="Canva Sans"/>
                <a:sym typeface="Canva Sans"/>
              </a:rPr>
              <a:t>This allows the system to warn the driver early, improving overall road safety.</a:t>
            </a:r>
          </a:p>
          <a:p>
            <a:pPr algn="just">
              <a:lnSpc>
                <a:spcPts val="3920"/>
              </a:lnSpc>
            </a:pPr>
            <a:endParaRPr lang="en-US" sz="2800">
              <a:solidFill>
                <a:srgbClr val="000000"/>
              </a:solidFill>
              <a:latin typeface="Canva Sans"/>
              <a:ea typeface="Canva Sans"/>
              <a:cs typeface="Canva Sans"/>
              <a:sym typeface="Canva Sans"/>
            </a:endParaRPr>
          </a:p>
        </p:txBody>
      </p:sp>
      <p:sp>
        <p:nvSpPr>
          <p:cNvPr id="6" name="Freeform 6"/>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3"/>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683255" y="2117817"/>
            <a:ext cx="7576045" cy="6051366"/>
          </a:xfrm>
          <a:custGeom>
            <a:avLst/>
            <a:gdLst/>
            <a:ahLst/>
            <a:cxnLst/>
            <a:rect l="l" t="t" r="r" b="b"/>
            <a:pathLst>
              <a:path w="7576045" h="6051366">
                <a:moveTo>
                  <a:pt x="0" y="0"/>
                </a:moveTo>
                <a:lnTo>
                  <a:pt x="7576045" y="0"/>
                </a:lnTo>
                <a:lnTo>
                  <a:pt x="7576045" y="6051366"/>
                </a:lnTo>
                <a:lnTo>
                  <a:pt x="0" y="6051366"/>
                </a:lnTo>
                <a:lnTo>
                  <a:pt x="0" y="0"/>
                </a:lnTo>
                <a:close/>
              </a:path>
            </a:pathLst>
          </a:custGeom>
          <a:blipFill>
            <a:blip r:embed="rId2"/>
            <a:stretch>
              <a:fillRect/>
            </a:stretch>
          </a:blipFill>
        </p:spPr>
      </p:sp>
      <p:sp>
        <p:nvSpPr>
          <p:cNvPr id="3" name="TextBox 3"/>
          <p:cNvSpPr txBox="1"/>
          <p:nvPr/>
        </p:nvSpPr>
        <p:spPr>
          <a:xfrm>
            <a:off x="1028700" y="141605"/>
            <a:ext cx="9000034" cy="887095"/>
          </a:xfrm>
          <a:prstGeom prst="rect">
            <a:avLst/>
          </a:prstGeom>
        </p:spPr>
        <p:txBody>
          <a:bodyPr lIns="0" tIns="0" rIns="0" bIns="0" rtlCol="0" anchor="t">
            <a:spAutoFit/>
          </a:bodyPr>
          <a:lstStyle/>
          <a:p>
            <a:pPr algn="ctr">
              <a:lnSpc>
                <a:spcPts val="7279"/>
              </a:lnSpc>
              <a:spcBef>
                <a:spcPct val="0"/>
              </a:spcBef>
            </a:pPr>
            <a:r>
              <a:rPr lang="en-US" sz="5199" b="1">
                <a:solidFill>
                  <a:srgbClr val="FF3131"/>
                </a:solidFill>
                <a:latin typeface="Canva Sans Bold"/>
                <a:ea typeface="Canva Sans Bold"/>
                <a:cs typeface="Canva Sans Bold"/>
                <a:sym typeface="Canva Sans Bold"/>
              </a:rPr>
              <a:t>Head Distraction Detection </a:t>
            </a:r>
          </a:p>
        </p:txBody>
      </p:sp>
      <p:sp>
        <p:nvSpPr>
          <p:cNvPr id="4" name="TextBox 4"/>
          <p:cNvSpPr txBox="1"/>
          <p:nvPr/>
        </p:nvSpPr>
        <p:spPr>
          <a:xfrm>
            <a:off x="1028700" y="2060667"/>
            <a:ext cx="8217658" cy="2993390"/>
          </a:xfrm>
          <a:prstGeom prst="rect">
            <a:avLst/>
          </a:prstGeom>
        </p:spPr>
        <p:txBody>
          <a:bodyPr lIns="0" tIns="0" rIns="0" bIns="0" rtlCol="0" anchor="t">
            <a:spAutoFit/>
          </a:bodyPr>
          <a:lstStyle/>
          <a:p>
            <a:pPr algn="l">
              <a:lnSpc>
                <a:spcPts val="4200"/>
              </a:lnSpc>
              <a:spcBef>
                <a:spcPct val="0"/>
              </a:spcBef>
            </a:pPr>
            <a:r>
              <a:rPr lang="en-US" sz="3000" b="1">
                <a:solidFill>
                  <a:srgbClr val="FF3131"/>
                </a:solidFill>
                <a:latin typeface="Canva Sans Bold"/>
                <a:ea typeface="Canva Sans Bold"/>
                <a:cs typeface="Canva Sans Bold"/>
                <a:sym typeface="Canva Sans Bold"/>
              </a:rPr>
              <a:t>1. Head Pose–Based Distraction Detection</a:t>
            </a:r>
          </a:p>
          <a:p>
            <a:pPr marL="604523" lvl="1" indent="-302261" algn="just">
              <a:lnSpc>
                <a:spcPts val="3920"/>
              </a:lnSpc>
              <a:buFont typeface="Arial"/>
              <a:buChar char="•"/>
            </a:pPr>
            <a:r>
              <a:rPr lang="en-US" sz="2800">
                <a:solidFill>
                  <a:srgbClr val="000000"/>
                </a:solidFill>
                <a:latin typeface="Canva Sans"/>
                <a:ea typeface="Canva Sans"/>
                <a:cs typeface="Canva Sans"/>
                <a:sym typeface="Canva Sans"/>
              </a:rPr>
              <a:t>The system tracks head rotation (yaw &amp; pitch angles) to detect when the driver looks away from the road.</a:t>
            </a:r>
          </a:p>
          <a:p>
            <a:pPr marL="604523" lvl="1" indent="-302261" algn="just">
              <a:lnSpc>
                <a:spcPts val="3920"/>
              </a:lnSpc>
              <a:buFont typeface="Arial"/>
              <a:buChar char="•"/>
            </a:pPr>
            <a:r>
              <a:rPr lang="en-US" sz="2800">
                <a:solidFill>
                  <a:srgbClr val="000000"/>
                </a:solidFill>
                <a:latin typeface="Canva Sans"/>
                <a:ea typeface="Canva Sans"/>
                <a:cs typeface="Canva Sans"/>
                <a:sym typeface="Canva Sans"/>
              </a:rPr>
              <a:t>A sustained deviation beyond threshold is classified as “DISTRACTED.”</a:t>
            </a:r>
          </a:p>
        </p:txBody>
      </p:sp>
      <p:sp>
        <p:nvSpPr>
          <p:cNvPr id="5" name="TextBox 5"/>
          <p:cNvSpPr txBox="1"/>
          <p:nvPr/>
        </p:nvSpPr>
        <p:spPr>
          <a:xfrm>
            <a:off x="1028700" y="5546962"/>
            <a:ext cx="8320016" cy="2993390"/>
          </a:xfrm>
          <a:prstGeom prst="rect">
            <a:avLst/>
          </a:prstGeom>
        </p:spPr>
        <p:txBody>
          <a:bodyPr lIns="0" tIns="0" rIns="0" bIns="0" rtlCol="0" anchor="t">
            <a:spAutoFit/>
          </a:bodyPr>
          <a:lstStyle/>
          <a:p>
            <a:pPr algn="l">
              <a:lnSpc>
                <a:spcPts val="4200"/>
              </a:lnSpc>
              <a:spcBef>
                <a:spcPct val="0"/>
              </a:spcBef>
            </a:pPr>
            <a:r>
              <a:rPr lang="en-US" sz="3000" b="1">
                <a:solidFill>
                  <a:srgbClr val="FF3131"/>
                </a:solidFill>
                <a:latin typeface="Canva Sans Bold"/>
                <a:ea typeface="Canva Sans Bold"/>
                <a:cs typeface="Canva Sans Bold"/>
                <a:sym typeface="Canva Sans Bold"/>
              </a:rPr>
              <a:t>2. Continuous Monitoring for Safer Driving</a:t>
            </a:r>
          </a:p>
          <a:p>
            <a:pPr marL="604523" lvl="1" indent="-302261" algn="just">
              <a:lnSpc>
                <a:spcPts val="3920"/>
              </a:lnSpc>
              <a:buFont typeface="Arial"/>
              <a:buChar char="•"/>
            </a:pPr>
            <a:r>
              <a:rPr lang="en-US" sz="2800">
                <a:solidFill>
                  <a:srgbClr val="000000"/>
                </a:solidFill>
                <a:latin typeface="Canva Sans"/>
                <a:ea typeface="Canva Sans"/>
                <a:cs typeface="Canva Sans"/>
                <a:sym typeface="Canva Sans"/>
              </a:rPr>
              <a:t>Distraction is only triggered after consistent head movement across multiple frames, reducing false alerts.</a:t>
            </a:r>
          </a:p>
          <a:p>
            <a:pPr marL="604523" lvl="1" indent="-302261" algn="just">
              <a:lnSpc>
                <a:spcPts val="3920"/>
              </a:lnSpc>
              <a:buFont typeface="Arial"/>
              <a:buChar char="•"/>
            </a:pPr>
            <a:r>
              <a:rPr lang="en-US" sz="2800">
                <a:solidFill>
                  <a:srgbClr val="000000"/>
                </a:solidFill>
                <a:latin typeface="Canva Sans"/>
                <a:ea typeface="Canva Sans"/>
                <a:cs typeface="Canva Sans"/>
                <a:sym typeface="Canva Sans"/>
              </a:rPr>
              <a:t>Helps identify attention loss in real time, improving driver safety and awareness.</a:t>
            </a:r>
          </a:p>
        </p:txBody>
      </p:sp>
      <p:sp>
        <p:nvSpPr>
          <p:cNvPr id="6" name="Freeform 6"/>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3"/>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636368" y="2259391"/>
            <a:ext cx="7622932" cy="6041174"/>
          </a:xfrm>
          <a:custGeom>
            <a:avLst/>
            <a:gdLst/>
            <a:ahLst/>
            <a:cxnLst/>
            <a:rect l="l" t="t" r="r" b="b"/>
            <a:pathLst>
              <a:path w="7622932" h="6041174">
                <a:moveTo>
                  <a:pt x="0" y="0"/>
                </a:moveTo>
                <a:lnTo>
                  <a:pt x="7622932" y="0"/>
                </a:lnTo>
                <a:lnTo>
                  <a:pt x="7622932" y="6041173"/>
                </a:lnTo>
                <a:lnTo>
                  <a:pt x="0" y="6041173"/>
                </a:lnTo>
                <a:lnTo>
                  <a:pt x="0" y="0"/>
                </a:lnTo>
                <a:close/>
              </a:path>
            </a:pathLst>
          </a:custGeom>
          <a:blipFill>
            <a:blip r:embed="rId2"/>
            <a:stretch>
              <a:fillRect/>
            </a:stretch>
          </a:blipFill>
        </p:spPr>
      </p:sp>
      <p:sp>
        <p:nvSpPr>
          <p:cNvPr id="3" name="TextBox 3"/>
          <p:cNvSpPr txBox="1"/>
          <p:nvPr/>
        </p:nvSpPr>
        <p:spPr>
          <a:xfrm>
            <a:off x="1028700" y="141605"/>
            <a:ext cx="7698383" cy="887095"/>
          </a:xfrm>
          <a:prstGeom prst="rect">
            <a:avLst/>
          </a:prstGeom>
        </p:spPr>
        <p:txBody>
          <a:bodyPr lIns="0" tIns="0" rIns="0" bIns="0" rtlCol="0" anchor="t">
            <a:spAutoFit/>
          </a:bodyPr>
          <a:lstStyle/>
          <a:p>
            <a:pPr algn="ctr">
              <a:lnSpc>
                <a:spcPts val="7279"/>
              </a:lnSpc>
              <a:spcBef>
                <a:spcPct val="0"/>
              </a:spcBef>
            </a:pPr>
            <a:r>
              <a:rPr lang="en-US" sz="5199" b="1">
                <a:solidFill>
                  <a:srgbClr val="FF3131"/>
                </a:solidFill>
                <a:latin typeface="Canva Sans Bold"/>
                <a:ea typeface="Canva Sans Bold"/>
                <a:cs typeface="Canva Sans Bold"/>
                <a:sym typeface="Canva Sans Bold"/>
              </a:rPr>
              <a:t>Phone Usage Detection </a:t>
            </a:r>
          </a:p>
        </p:txBody>
      </p:sp>
      <p:sp>
        <p:nvSpPr>
          <p:cNvPr id="4" name="TextBox 4"/>
          <p:cNvSpPr txBox="1"/>
          <p:nvPr/>
        </p:nvSpPr>
        <p:spPr>
          <a:xfrm>
            <a:off x="1028700" y="1548059"/>
            <a:ext cx="8115300" cy="4022090"/>
          </a:xfrm>
          <a:prstGeom prst="rect">
            <a:avLst/>
          </a:prstGeom>
        </p:spPr>
        <p:txBody>
          <a:bodyPr lIns="0" tIns="0" rIns="0" bIns="0" rtlCol="0" anchor="t">
            <a:spAutoFit/>
          </a:bodyPr>
          <a:lstStyle/>
          <a:p>
            <a:pPr algn="l">
              <a:lnSpc>
                <a:spcPts val="4200"/>
              </a:lnSpc>
              <a:spcBef>
                <a:spcPct val="0"/>
              </a:spcBef>
            </a:pPr>
            <a:r>
              <a:rPr lang="en-US" sz="3000" b="1">
                <a:solidFill>
                  <a:srgbClr val="FF3131"/>
                </a:solidFill>
                <a:latin typeface="Canva Sans Bold"/>
                <a:ea typeface="Canva Sans Bold"/>
                <a:cs typeface="Canva Sans Bold"/>
                <a:sym typeface="Canva Sans Bold"/>
              </a:rPr>
              <a:t>1. Real-Time Mobile Phone Detection (YOLO Model)</a:t>
            </a:r>
          </a:p>
          <a:p>
            <a:pPr marL="604523" lvl="1" indent="-302261" algn="just">
              <a:lnSpc>
                <a:spcPts val="3920"/>
              </a:lnSpc>
              <a:buFont typeface="Arial"/>
              <a:buChar char="•"/>
            </a:pPr>
            <a:r>
              <a:rPr lang="en-US" sz="2800">
                <a:solidFill>
                  <a:srgbClr val="000000"/>
                </a:solidFill>
                <a:latin typeface="Canva Sans"/>
                <a:ea typeface="Canva Sans"/>
                <a:cs typeface="Canva Sans"/>
                <a:sym typeface="Canva Sans"/>
              </a:rPr>
              <a:t>The system uses YOLO object detection to identify a mobile phone in the driver’s hand.</a:t>
            </a:r>
          </a:p>
          <a:p>
            <a:pPr marL="604523" lvl="1" indent="-302261" algn="just">
              <a:lnSpc>
                <a:spcPts val="3920"/>
              </a:lnSpc>
              <a:buFont typeface="Arial"/>
              <a:buChar char="•"/>
            </a:pPr>
            <a:r>
              <a:rPr lang="en-US" sz="2800">
                <a:solidFill>
                  <a:srgbClr val="000000"/>
                </a:solidFill>
                <a:latin typeface="Canva Sans"/>
                <a:ea typeface="Canva Sans"/>
                <a:cs typeface="Canva Sans"/>
                <a:sym typeface="Canva Sans"/>
              </a:rPr>
              <a:t>A bounding box is drawn around the detected phone, and the state is classified as “PHONE.”</a:t>
            </a:r>
          </a:p>
        </p:txBody>
      </p:sp>
      <p:sp>
        <p:nvSpPr>
          <p:cNvPr id="5" name="TextBox 5"/>
          <p:cNvSpPr txBox="1"/>
          <p:nvPr/>
        </p:nvSpPr>
        <p:spPr>
          <a:xfrm>
            <a:off x="1028700" y="5769610"/>
            <a:ext cx="8115300" cy="3488690"/>
          </a:xfrm>
          <a:prstGeom prst="rect">
            <a:avLst/>
          </a:prstGeom>
        </p:spPr>
        <p:txBody>
          <a:bodyPr lIns="0" tIns="0" rIns="0" bIns="0" rtlCol="0" anchor="t">
            <a:spAutoFit/>
          </a:bodyPr>
          <a:lstStyle/>
          <a:p>
            <a:pPr algn="l">
              <a:lnSpc>
                <a:spcPts val="4200"/>
              </a:lnSpc>
              <a:spcBef>
                <a:spcPct val="0"/>
              </a:spcBef>
            </a:pPr>
            <a:r>
              <a:rPr lang="en-US" sz="3000" b="1">
                <a:solidFill>
                  <a:srgbClr val="FF3131"/>
                </a:solidFill>
                <a:latin typeface="Canva Sans Bold"/>
                <a:ea typeface="Canva Sans Bold"/>
                <a:cs typeface="Canva Sans Bold"/>
                <a:sym typeface="Canva Sans Bold"/>
              </a:rPr>
              <a:t>2. High-Risk Behavior Identification</a:t>
            </a:r>
          </a:p>
          <a:p>
            <a:pPr marL="604523" lvl="1" indent="-302261" algn="l">
              <a:lnSpc>
                <a:spcPts val="3920"/>
              </a:lnSpc>
              <a:buFont typeface="Arial"/>
              <a:buChar char="•"/>
            </a:pPr>
            <a:r>
              <a:rPr lang="en-US" sz="2800">
                <a:solidFill>
                  <a:srgbClr val="000000"/>
                </a:solidFill>
                <a:latin typeface="Canva Sans"/>
                <a:ea typeface="Canva Sans"/>
                <a:cs typeface="Canva Sans"/>
                <a:sym typeface="Canva Sans"/>
              </a:rPr>
              <a:t>Using a phone while driving is detected as a critical distraction with higher penalty weight.</a:t>
            </a:r>
          </a:p>
          <a:p>
            <a:pPr marL="604523" lvl="1" indent="-302261" algn="l">
              <a:lnSpc>
                <a:spcPts val="3920"/>
              </a:lnSpc>
              <a:buFont typeface="Arial"/>
              <a:buChar char="•"/>
            </a:pPr>
            <a:r>
              <a:rPr lang="en-US" sz="2800">
                <a:solidFill>
                  <a:srgbClr val="000000"/>
                </a:solidFill>
                <a:latin typeface="Canva Sans"/>
                <a:ea typeface="Canva Sans"/>
                <a:cs typeface="Canva Sans"/>
                <a:sym typeface="Canva Sans"/>
              </a:rPr>
              <a:t>Enables instant alerts, helping prevent accidents caused by reduced driver attention.</a:t>
            </a:r>
          </a:p>
        </p:txBody>
      </p:sp>
      <p:sp>
        <p:nvSpPr>
          <p:cNvPr id="6" name="Freeform 6"/>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3"/>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253734" y="141605"/>
            <a:ext cx="4023866" cy="887095"/>
          </a:xfrm>
          <a:prstGeom prst="rect">
            <a:avLst/>
          </a:prstGeom>
        </p:spPr>
        <p:txBody>
          <a:bodyPr wrap="square" lIns="0" tIns="0" rIns="0" bIns="0" rtlCol="0" anchor="t">
            <a:spAutoFit/>
          </a:bodyPr>
          <a:lstStyle/>
          <a:p>
            <a:pPr algn="ctr">
              <a:lnSpc>
                <a:spcPts val="7279"/>
              </a:lnSpc>
            </a:pPr>
            <a:r>
              <a:rPr lang="en-US" sz="5199" b="1" dirty="0">
                <a:solidFill>
                  <a:srgbClr val="FF3131"/>
                </a:solidFill>
                <a:latin typeface="Canva Sans Bold"/>
                <a:ea typeface="Canva Sans Bold"/>
                <a:cs typeface="Canva Sans Bold"/>
                <a:sym typeface="Canva Sans Bold"/>
              </a:rPr>
              <a:t>Advantages</a:t>
            </a:r>
          </a:p>
        </p:txBody>
      </p:sp>
      <p:sp>
        <p:nvSpPr>
          <p:cNvPr id="3" name="TextBox 3"/>
          <p:cNvSpPr txBox="1"/>
          <p:nvPr/>
        </p:nvSpPr>
        <p:spPr>
          <a:xfrm>
            <a:off x="1028700" y="1533642"/>
            <a:ext cx="16230600" cy="1056005"/>
          </a:xfrm>
          <a:prstGeom prst="rect">
            <a:avLst/>
          </a:prstGeom>
        </p:spPr>
        <p:txBody>
          <a:bodyPr lIns="0" tIns="0" rIns="0" bIns="0" rtlCol="0" anchor="t">
            <a:spAutoFit/>
          </a:bodyPr>
          <a:lstStyle/>
          <a:p>
            <a:pPr algn="l">
              <a:lnSpc>
                <a:spcPts val="4480"/>
              </a:lnSpc>
              <a:spcBef>
                <a:spcPct val="0"/>
              </a:spcBef>
            </a:pPr>
            <a:r>
              <a:rPr lang="en-US" sz="3200" b="1" dirty="0">
                <a:solidFill>
                  <a:srgbClr val="FF3131"/>
                </a:solidFill>
                <a:latin typeface="Canva Sans Bold"/>
                <a:ea typeface="Canva Sans Bold"/>
                <a:cs typeface="Canva Sans Bold"/>
                <a:sym typeface="Canva Sans Bold"/>
              </a:rPr>
              <a:t>Non-Intrusive: </a:t>
            </a:r>
          </a:p>
          <a:p>
            <a:pPr marL="626112" lvl="1" indent="-313056" algn="just">
              <a:lnSpc>
                <a:spcPts val="4060"/>
              </a:lnSpc>
              <a:buFont typeface="Arial"/>
              <a:buChar char="•"/>
            </a:pPr>
            <a:r>
              <a:rPr lang="en-US" sz="2900" dirty="0">
                <a:solidFill>
                  <a:srgbClr val="000000"/>
                </a:solidFill>
                <a:latin typeface="Canva Sans"/>
                <a:ea typeface="Canva Sans"/>
                <a:cs typeface="Canva Sans"/>
                <a:sym typeface="Canva Sans"/>
              </a:rPr>
              <a:t>The system works using only a camera, without requiring wearables or special sensors.</a:t>
            </a:r>
          </a:p>
        </p:txBody>
      </p:sp>
      <p:sp>
        <p:nvSpPr>
          <p:cNvPr id="4" name="TextBox 4"/>
          <p:cNvSpPr txBox="1"/>
          <p:nvPr/>
        </p:nvSpPr>
        <p:spPr>
          <a:xfrm>
            <a:off x="1028700" y="2815043"/>
            <a:ext cx="15951367" cy="1570355"/>
          </a:xfrm>
          <a:prstGeom prst="rect">
            <a:avLst/>
          </a:prstGeom>
        </p:spPr>
        <p:txBody>
          <a:bodyPr lIns="0" tIns="0" rIns="0" bIns="0" rtlCol="0" anchor="t">
            <a:spAutoFit/>
          </a:bodyPr>
          <a:lstStyle/>
          <a:p>
            <a:pPr algn="l">
              <a:lnSpc>
                <a:spcPts val="4480"/>
              </a:lnSpc>
              <a:spcBef>
                <a:spcPct val="0"/>
              </a:spcBef>
            </a:pPr>
            <a:r>
              <a:rPr lang="en-US" sz="3200" b="1">
                <a:solidFill>
                  <a:srgbClr val="FF3131"/>
                </a:solidFill>
                <a:latin typeface="Canva Sans Bold"/>
                <a:ea typeface="Canva Sans Bold"/>
                <a:cs typeface="Canva Sans Bold"/>
                <a:sym typeface="Canva Sans Bold"/>
              </a:rPr>
              <a:t>Multi-Hazard: </a:t>
            </a:r>
          </a:p>
          <a:p>
            <a:pPr marL="626112" lvl="1" indent="-313056" algn="just">
              <a:lnSpc>
                <a:spcPts val="4060"/>
              </a:lnSpc>
              <a:buFont typeface="Arial"/>
              <a:buChar char="•"/>
            </a:pPr>
            <a:r>
              <a:rPr lang="en-US" sz="2900">
                <a:solidFill>
                  <a:srgbClr val="000000"/>
                </a:solidFill>
                <a:latin typeface="Canva Sans"/>
                <a:ea typeface="Canva Sans"/>
                <a:cs typeface="Canva Sans"/>
                <a:sym typeface="Canva Sans"/>
              </a:rPr>
              <a:t>Detects multiple risks simultaneously, including drowsiness, yawning, distraction, and phone usage.</a:t>
            </a:r>
          </a:p>
        </p:txBody>
      </p:sp>
      <p:sp>
        <p:nvSpPr>
          <p:cNvPr id="5" name="TextBox 5"/>
          <p:cNvSpPr txBox="1"/>
          <p:nvPr/>
        </p:nvSpPr>
        <p:spPr>
          <a:xfrm>
            <a:off x="1028700" y="4610794"/>
            <a:ext cx="16104904" cy="1056005"/>
          </a:xfrm>
          <a:prstGeom prst="rect">
            <a:avLst/>
          </a:prstGeom>
        </p:spPr>
        <p:txBody>
          <a:bodyPr lIns="0" tIns="0" rIns="0" bIns="0" rtlCol="0" anchor="t">
            <a:spAutoFit/>
          </a:bodyPr>
          <a:lstStyle/>
          <a:p>
            <a:pPr algn="l">
              <a:lnSpc>
                <a:spcPts val="4480"/>
              </a:lnSpc>
              <a:spcBef>
                <a:spcPct val="0"/>
              </a:spcBef>
            </a:pPr>
            <a:r>
              <a:rPr lang="en-US" sz="3200" b="1" dirty="0">
                <a:solidFill>
                  <a:srgbClr val="FF3131"/>
                </a:solidFill>
                <a:latin typeface="Canva Sans Bold"/>
                <a:ea typeface="Canva Sans Bold"/>
                <a:cs typeface="Canva Sans Bold"/>
                <a:sym typeface="Canva Sans Bold"/>
              </a:rPr>
              <a:t>Persistent Log:</a:t>
            </a:r>
          </a:p>
          <a:p>
            <a:pPr marL="626112" lvl="1" indent="-313056" algn="just">
              <a:lnSpc>
                <a:spcPts val="4060"/>
              </a:lnSpc>
              <a:buFont typeface="Arial"/>
              <a:buChar char="•"/>
            </a:pPr>
            <a:r>
              <a:rPr lang="en-US" sz="2900" dirty="0">
                <a:solidFill>
                  <a:srgbClr val="000000"/>
                </a:solidFill>
                <a:latin typeface="Canva Sans"/>
                <a:ea typeface="Canva Sans"/>
                <a:cs typeface="Canva Sans"/>
                <a:sym typeface="Canva Sans"/>
              </a:rPr>
              <a:t> Saves driver data over time, allowing long-term behavior tracking and safety analysis.</a:t>
            </a:r>
          </a:p>
        </p:txBody>
      </p:sp>
      <p:sp>
        <p:nvSpPr>
          <p:cNvPr id="6" name="TextBox 6"/>
          <p:cNvSpPr txBox="1"/>
          <p:nvPr/>
        </p:nvSpPr>
        <p:spPr>
          <a:xfrm>
            <a:off x="1028700" y="5892194"/>
            <a:ext cx="16104904" cy="1570355"/>
          </a:xfrm>
          <a:prstGeom prst="rect">
            <a:avLst/>
          </a:prstGeom>
        </p:spPr>
        <p:txBody>
          <a:bodyPr lIns="0" tIns="0" rIns="0" bIns="0" rtlCol="0" anchor="t">
            <a:spAutoFit/>
          </a:bodyPr>
          <a:lstStyle/>
          <a:p>
            <a:pPr algn="l">
              <a:lnSpc>
                <a:spcPts val="4480"/>
              </a:lnSpc>
              <a:spcBef>
                <a:spcPct val="0"/>
              </a:spcBef>
            </a:pPr>
            <a:r>
              <a:rPr lang="en-US" sz="3200" b="1">
                <a:solidFill>
                  <a:srgbClr val="FF3131"/>
                </a:solidFill>
                <a:latin typeface="Canva Sans Bold"/>
                <a:ea typeface="Canva Sans Bold"/>
                <a:cs typeface="Canva Sans Bold"/>
                <a:sym typeface="Canva Sans Bold"/>
              </a:rPr>
              <a:t>Modular:</a:t>
            </a:r>
          </a:p>
          <a:p>
            <a:pPr marL="626112" lvl="1" indent="-313056" algn="just">
              <a:lnSpc>
                <a:spcPts val="4060"/>
              </a:lnSpc>
              <a:buFont typeface="Arial"/>
              <a:buChar char="•"/>
            </a:pPr>
            <a:r>
              <a:rPr lang="en-US" sz="2900">
                <a:solidFill>
                  <a:srgbClr val="000000"/>
                </a:solidFill>
                <a:latin typeface="Canva Sans"/>
                <a:ea typeface="Canva Sans"/>
                <a:cs typeface="Canva Sans"/>
                <a:sym typeface="Canva Sans"/>
              </a:rPr>
              <a:t> The system is built in separate parts, allowing easy updates, tuning, or replacement of individual components.</a:t>
            </a:r>
          </a:p>
        </p:txBody>
      </p:sp>
      <p:sp>
        <p:nvSpPr>
          <p:cNvPr id="7" name="TextBox 7"/>
          <p:cNvSpPr txBox="1"/>
          <p:nvPr/>
        </p:nvSpPr>
        <p:spPr>
          <a:xfrm>
            <a:off x="1028700" y="7687945"/>
            <a:ext cx="16230600" cy="1570355"/>
          </a:xfrm>
          <a:prstGeom prst="rect">
            <a:avLst/>
          </a:prstGeom>
        </p:spPr>
        <p:txBody>
          <a:bodyPr lIns="0" tIns="0" rIns="0" bIns="0" rtlCol="0" anchor="t">
            <a:spAutoFit/>
          </a:bodyPr>
          <a:lstStyle/>
          <a:p>
            <a:pPr algn="l">
              <a:lnSpc>
                <a:spcPts val="4480"/>
              </a:lnSpc>
              <a:spcBef>
                <a:spcPct val="0"/>
              </a:spcBef>
            </a:pPr>
            <a:r>
              <a:rPr lang="en-US" sz="3200" b="1" dirty="0">
                <a:solidFill>
                  <a:srgbClr val="FF3131"/>
                </a:solidFill>
                <a:latin typeface="Canva Sans Bold"/>
                <a:ea typeface="Canva Sans Bold"/>
                <a:cs typeface="Canva Sans Bold"/>
                <a:sym typeface="Canva Sans Bold"/>
              </a:rPr>
              <a:t>Low Cost: </a:t>
            </a:r>
          </a:p>
          <a:p>
            <a:pPr marL="626112" lvl="1" indent="-313056" algn="l">
              <a:lnSpc>
                <a:spcPts val="4060"/>
              </a:lnSpc>
              <a:buFont typeface="Arial"/>
              <a:buChar char="•"/>
            </a:pPr>
            <a:r>
              <a:rPr lang="en-US" sz="2900" dirty="0">
                <a:solidFill>
                  <a:srgbClr val="000000"/>
                </a:solidFill>
                <a:latin typeface="Canva Sans"/>
                <a:ea typeface="Canva Sans"/>
                <a:cs typeface="Canva Sans"/>
                <a:sym typeface="Canva Sans"/>
              </a:rPr>
              <a:t>The system runs on standard hardware like a webcam and CPU, with optional GPU for better performance.</a:t>
            </a:r>
          </a:p>
        </p:txBody>
      </p:sp>
      <p:sp>
        <p:nvSpPr>
          <p:cNvPr id="8" name="Freeform 8"/>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2"/>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7580" y="141605"/>
            <a:ext cx="3883819" cy="887095"/>
          </a:xfrm>
          <a:prstGeom prst="rect">
            <a:avLst/>
          </a:prstGeom>
        </p:spPr>
        <p:txBody>
          <a:bodyPr wrap="square" lIns="0" tIns="0" rIns="0" bIns="0" rtlCol="0" anchor="t">
            <a:spAutoFit/>
          </a:bodyPr>
          <a:lstStyle/>
          <a:p>
            <a:pPr algn="ctr">
              <a:lnSpc>
                <a:spcPts val="7279"/>
              </a:lnSpc>
              <a:spcBef>
                <a:spcPct val="0"/>
              </a:spcBef>
            </a:pPr>
            <a:r>
              <a:rPr lang="en-US" sz="5199" b="1" dirty="0">
                <a:solidFill>
                  <a:srgbClr val="FF3131"/>
                </a:solidFill>
                <a:latin typeface="Canva Sans Bold"/>
                <a:ea typeface="Canva Sans Bold"/>
                <a:cs typeface="Canva Sans Bold"/>
                <a:sym typeface="Canva Sans Bold"/>
              </a:rPr>
              <a:t>Limitations</a:t>
            </a:r>
          </a:p>
        </p:txBody>
      </p:sp>
      <p:sp>
        <p:nvSpPr>
          <p:cNvPr id="3" name="TextBox 3"/>
          <p:cNvSpPr txBox="1"/>
          <p:nvPr/>
        </p:nvSpPr>
        <p:spPr>
          <a:xfrm>
            <a:off x="1028700" y="1203311"/>
            <a:ext cx="16230600" cy="1652270"/>
          </a:xfrm>
          <a:prstGeom prst="rect">
            <a:avLst/>
          </a:prstGeom>
        </p:spPr>
        <p:txBody>
          <a:bodyPr lIns="0" tIns="0" rIns="0" bIns="0" rtlCol="0" anchor="t">
            <a:spAutoFit/>
          </a:bodyPr>
          <a:lstStyle/>
          <a:p>
            <a:pPr algn="l">
              <a:lnSpc>
                <a:spcPts val="4759"/>
              </a:lnSpc>
            </a:pPr>
            <a:r>
              <a:rPr lang="en-US" sz="3399" b="1">
                <a:solidFill>
                  <a:srgbClr val="FF3131"/>
                </a:solidFill>
                <a:latin typeface="Canva Sans Bold"/>
                <a:ea typeface="Canva Sans Bold"/>
                <a:cs typeface="Canva Sans Bold"/>
                <a:sym typeface="Canva Sans Bold"/>
              </a:rPr>
              <a:t>⚠ Lighting Sensitive</a:t>
            </a:r>
          </a:p>
          <a:p>
            <a:pPr marL="647702" lvl="1" indent="-323851" algn="just">
              <a:lnSpc>
                <a:spcPts val="4200"/>
              </a:lnSpc>
              <a:buFont typeface="Arial"/>
              <a:buChar char="•"/>
            </a:pPr>
            <a:r>
              <a:rPr lang="en-US" sz="3000">
                <a:solidFill>
                  <a:srgbClr val="000000"/>
                </a:solidFill>
                <a:latin typeface="Canva Sans"/>
                <a:ea typeface="Canva Sans"/>
                <a:cs typeface="Canva Sans"/>
                <a:sym typeface="Canva Sans"/>
              </a:rPr>
              <a:t>Face landmark accuracy degrades significantly in low-light environments or heavily backlit conditions without specialized sensors.</a:t>
            </a:r>
          </a:p>
        </p:txBody>
      </p:sp>
      <p:sp>
        <p:nvSpPr>
          <p:cNvPr id="4" name="TextBox 4"/>
          <p:cNvSpPr txBox="1"/>
          <p:nvPr/>
        </p:nvSpPr>
        <p:spPr>
          <a:xfrm>
            <a:off x="1028700" y="3438132"/>
            <a:ext cx="16230600" cy="1652270"/>
          </a:xfrm>
          <a:prstGeom prst="rect">
            <a:avLst/>
          </a:prstGeom>
        </p:spPr>
        <p:txBody>
          <a:bodyPr lIns="0" tIns="0" rIns="0" bIns="0" rtlCol="0" anchor="t">
            <a:spAutoFit/>
          </a:bodyPr>
          <a:lstStyle/>
          <a:p>
            <a:pPr algn="l">
              <a:lnSpc>
                <a:spcPts val="4759"/>
              </a:lnSpc>
            </a:pPr>
            <a:r>
              <a:rPr lang="en-US" sz="3399" b="1" dirty="0">
                <a:solidFill>
                  <a:srgbClr val="FF3131"/>
                </a:solidFill>
                <a:latin typeface="Canva Sans Bold"/>
                <a:ea typeface="Canva Sans Bold"/>
                <a:cs typeface="Canva Sans Bold"/>
                <a:sym typeface="Canva Sans Bold"/>
              </a:rPr>
              <a:t>⚠ Occlusion Failures</a:t>
            </a:r>
          </a:p>
          <a:p>
            <a:pPr marL="647702" lvl="1" indent="-323851" algn="just">
              <a:lnSpc>
                <a:spcPts val="4200"/>
              </a:lnSpc>
              <a:buFont typeface="Arial"/>
              <a:buChar char="•"/>
            </a:pPr>
            <a:r>
              <a:rPr lang="en-US" sz="3000" dirty="0">
                <a:solidFill>
                  <a:srgbClr val="000000"/>
                </a:solidFill>
                <a:latin typeface="Canva Sans"/>
                <a:ea typeface="Canva Sans"/>
                <a:cs typeface="Canva Sans"/>
                <a:sym typeface="Canva Sans"/>
              </a:rPr>
              <a:t>Wearing dark sunglasses or face masks can block key landmarks, potentially disabling the eye and mouth detection logic entirely.</a:t>
            </a:r>
          </a:p>
        </p:txBody>
      </p:sp>
      <p:sp>
        <p:nvSpPr>
          <p:cNvPr id="5" name="TextBox 5"/>
          <p:cNvSpPr txBox="1"/>
          <p:nvPr/>
        </p:nvSpPr>
        <p:spPr>
          <a:xfrm>
            <a:off x="1028700" y="5483206"/>
            <a:ext cx="16230600" cy="1652270"/>
          </a:xfrm>
          <a:prstGeom prst="rect">
            <a:avLst/>
          </a:prstGeom>
        </p:spPr>
        <p:txBody>
          <a:bodyPr lIns="0" tIns="0" rIns="0" bIns="0" rtlCol="0" anchor="t">
            <a:spAutoFit/>
          </a:bodyPr>
          <a:lstStyle/>
          <a:p>
            <a:pPr algn="just">
              <a:lnSpc>
                <a:spcPts val="4759"/>
              </a:lnSpc>
            </a:pPr>
            <a:r>
              <a:rPr lang="en-US" sz="3399" b="1" dirty="0">
                <a:solidFill>
                  <a:srgbClr val="FF3131"/>
                </a:solidFill>
                <a:latin typeface="Canva Sans Bold"/>
                <a:ea typeface="Canva Sans Bold"/>
                <a:cs typeface="Canva Sans Bold"/>
                <a:sym typeface="Canva Sans Bold"/>
              </a:rPr>
              <a:t>⚠ No Night Vision</a:t>
            </a:r>
          </a:p>
          <a:p>
            <a:pPr marL="647702" lvl="1" indent="-323851" algn="just">
              <a:lnSpc>
                <a:spcPts val="4200"/>
              </a:lnSpc>
              <a:buFont typeface="Arial"/>
              <a:buChar char="•"/>
            </a:pPr>
            <a:r>
              <a:rPr lang="en-US" sz="3000" dirty="0">
                <a:solidFill>
                  <a:srgbClr val="000000"/>
                </a:solidFill>
                <a:latin typeface="Canva Sans"/>
                <a:ea typeface="Canva Sans"/>
                <a:cs typeface="Canva Sans"/>
                <a:sym typeface="Canva Sans"/>
              </a:rPr>
              <a:t>Standard RGB webcams perform poorly at night. The system currently lacks infrared (IR) support for true 24-hour monitoring.</a:t>
            </a:r>
          </a:p>
        </p:txBody>
      </p:sp>
      <p:sp>
        <p:nvSpPr>
          <p:cNvPr id="6" name="TextBox 6"/>
          <p:cNvSpPr txBox="1"/>
          <p:nvPr/>
        </p:nvSpPr>
        <p:spPr>
          <a:xfrm>
            <a:off x="1028700" y="7361863"/>
            <a:ext cx="17259300" cy="1670050"/>
          </a:xfrm>
          <a:prstGeom prst="rect">
            <a:avLst/>
          </a:prstGeom>
        </p:spPr>
        <p:txBody>
          <a:bodyPr lIns="0" tIns="0" rIns="0" bIns="0" rtlCol="0" anchor="t">
            <a:spAutoFit/>
          </a:bodyPr>
          <a:lstStyle/>
          <a:p>
            <a:pPr algn="l">
              <a:lnSpc>
                <a:spcPts val="4759"/>
              </a:lnSpc>
            </a:pPr>
            <a:r>
              <a:rPr lang="en-US" sz="3399" b="1">
                <a:solidFill>
                  <a:srgbClr val="FF3131"/>
                </a:solidFill>
                <a:latin typeface="Canva Sans Bold"/>
                <a:ea typeface="Canva Sans Bold"/>
                <a:cs typeface="Canva Sans Bold"/>
                <a:sym typeface="Canva Sans Bold"/>
              </a:rPr>
              <a:t>⚠ Single Occupant</a:t>
            </a:r>
          </a:p>
          <a:p>
            <a:pPr marL="669291" lvl="1" indent="-334646" algn="l">
              <a:lnSpc>
                <a:spcPts val="4340"/>
              </a:lnSpc>
              <a:buFont typeface="Arial"/>
              <a:buChar char="•"/>
            </a:pPr>
            <a:r>
              <a:rPr lang="en-US" sz="3100">
                <a:solidFill>
                  <a:srgbClr val="000000"/>
                </a:solidFill>
                <a:latin typeface="Canva Sans"/>
                <a:ea typeface="Canva Sans"/>
                <a:cs typeface="Canva Sans"/>
                <a:sym typeface="Canva Sans"/>
              </a:rPr>
              <a:t>The system is configured for one driver (max_faces=1). Passenger interference or movement in the background can occasionally cause false positives.</a:t>
            </a:r>
          </a:p>
        </p:txBody>
      </p:sp>
      <p:sp>
        <p:nvSpPr>
          <p:cNvPr id="7" name="Freeform 7"/>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2"/>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599658" y="141605"/>
            <a:ext cx="7201942" cy="887095"/>
          </a:xfrm>
          <a:prstGeom prst="rect">
            <a:avLst/>
          </a:prstGeom>
        </p:spPr>
        <p:txBody>
          <a:bodyPr wrap="square" lIns="0" tIns="0" rIns="0" bIns="0" rtlCol="0" anchor="t">
            <a:spAutoFit/>
          </a:bodyPr>
          <a:lstStyle/>
          <a:p>
            <a:pPr algn="ctr">
              <a:lnSpc>
                <a:spcPts val="7279"/>
              </a:lnSpc>
            </a:pPr>
            <a:r>
              <a:rPr lang="en-US" sz="5199" b="1" dirty="0">
                <a:solidFill>
                  <a:srgbClr val="FF3131"/>
                </a:solidFill>
                <a:latin typeface="Canva Sans Bold"/>
                <a:ea typeface="Canva Sans Bold"/>
                <a:cs typeface="Canva Sans Bold"/>
                <a:sym typeface="Canva Sans Bold"/>
              </a:rPr>
              <a:t>Future Enhancements</a:t>
            </a:r>
          </a:p>
        </p:txBody>
      </p:sp>
      <p:sp>
        <p:nvSpPr>
          <p:cNvPr id="3" name="TextBox 3"/>
          <p:cNvSpPr txBox="1"/>
          <p:nvPr/>
        </p:nvSpPr>
        <p:spPr>
          <a:xfrm>
            <a:off x="1028700" y="1142147"/>
            <a:ext cx="16230600" cy="1607185"/>
          </a:xfrm>
          <a:prstGeom prst="rect">
            <a:avLst/>
          </a:prstGeom>
        </p:spPr>
        <p:txBody>
          <a:bodyPr lIns="0" tIns="0" rIns="0" bIns="0" rtlCol="0" anchor="t">
            <a:spAutoFit/>
          </a:bodyPr>
          <a:lstStyle/>
          <a:p>
            <a:pPr algn="l">
              <a:lnSpc>
                <a:spcPts val="4480"/>
              </a:lnSpc>
            </a:pPr>
            <a:r>
              <a:rPr lang="en-US" sz="3200" b="1">
                <a:solidFill>
                  <a:srgbClr val="FF3131"/>
                </a:solidFill>
                <a:latin typeface="Canva Sans Bold"/>
                <a:ea typeface="Canva Sans Bold"/>
                <a:cs typeface="Canva Sans Bold"/>
                <a:sym typeface="Canva Sans Bold"/>
              </a:rPr>
              <a:t>1. IR / Night Mode</a:t>
            </a:r>
          </a:p>
          <a:p>
            <a:pPr marL="647702" lvl="1" indent="-323851" algn="l">
              <a:lnSpc>
                <a:spcPts val="4200"/>
              </a:lnSpc>
              <a:buFont typeface="Arial"/>
              <a:buChar char="•"/>
            </a:pPr>
            <a:r>
              <a:rPr lang="en-US" sz="3000">
                <a:solidFill>
                  <a:srgbClr val="000000"/>
                </a:solidFill>
                <a:latin typeface="Canva Sans"/>
                <a:ea typeface="Canva Sans"/>
                <a:cs typeface="Canva Sans"/>
                <a:sym typeface="Canva Sans"/>
              </a:rPr>
              <a:t>Add an infrared camera channel or low-light image enhancement for 24/7 operation in total darkness.</a:t>
            </a:r>
          </a:p>
        </p:txBody>
      </p:sp>
      <p:sp>
        <p:nvSpPr>
          <p:cNvPr id="4" name="TextBox 4"/>
          <p:cNvSpPr txBox="1"/>
          <p:nvPr/>
        </p:nvSpPr>
        <p:spPr>
          <a:xfrm>
            <a:off x="1028700" y="3489603"/>
            <a:ext cx="15723642" cy="1607185"/>
          </a:xfrm>
          <a:prstGeom prst="rect">
            <a:avLst/>
          </a:prstGeom>
        </p:spPr>
        <p:txBody>
          <a:bodyPr lIns="0" tIns="0" rIns="0" bIns="0" rtlCol="0" anchor="t">
            <a:spAutoFit/>
          </a:bodyPr>
          <a:lstStyle/>
          <a:p>
            <a:pPr algn="l">
              <a:lnSpc>
                <a:spcPts val="4480"/>
              </a:lnSpc>
            </a:pPr>
            <a:r>
              <a:rPr lang="en-US" sz="3200" b="1" dirty="0">
                <a:solidFill>
                  <a:srgbClr val="FF3131"/>
                </a:solidFill>
                <a:latin typeface="Canva Sans Bold"/>
                <a:ea typeface="Canva Sans Bold"/>
                <a:cs typeface="Canva Sans Bold"/>
                <a:sym typeface="Canva Sans Bold"/>
              </a:rPr>
              <a:t>2. Cloud Dashboard</a:t>
            </a:r>
          </a:p>
          <a:p>
            <a:pPr marL="647702" lvl="1" indent="-323851" algn="just">
              <a:lnSpc>
                <a:spcPts val="4200"/>
              </a:lnSpc>
              <a:buFont typeface="Arial"/>
              <a:buChar char="•"/>
            </a:pPr>
            <a:r>
              <a:rPr lang="en-US" sz="3000" dirty="0">
                <a:solidFill>
                  <a:srgbClr val="000000"/>
                </a:solidFill>
                <a:latin typeface="Canva Sans"/>
                <a:ea typeface="Canva Sans"/>
                <a:cs typeface="Canva Sans"/>
                <a:sym typeface="Canva Sans"/>
              </a:rPr>
              <a:t>Stream session data and real-time alerts to a fleet-management portal for remote monitoring and safety audits.</a:t>
            </a:r>
          </a:p>
        </p:txBody>
      </p:sp>
      <p:sp>
        <p:nvSpPr>
          <p:cNvPr id="5" name="TextBox 5"/>
          <p:cNvSpPr txBox="1"/>
          <p:nvPr/>
        </p:nvSpPr>
        <p:spPr>
          <a:xfrm>
            <a:off x="1028700" y="5837059"/>
            <a:ext cx="9639300" cy="1073785"/>
          </a:xfrm>
          <a:prstGeom prst="rect">
            <a:avLst/>
          </a:prstGeom>
        </p:spPr>
        <p:txBody>
          <a:bodyPr wrap="square" lIns="0" tIns="0" rIns="0" bIns="0" rtlCol="0" anchor="t">
            <a:spAutoFit/>
          </a:bodyPr>
          <a:lstStyle/>
          <a:p>
            <a:pPr algn="l">
              <a:lnSpc>
                <a:spcPts val="4480"/>
              </a:lnSpc>
              <a:spcBef>
                <a:spcPct val="0"/>
              </a:spcBef>
            </a:pPr>
            <a:r>
              <a:rPr lang="en-US" sz="3200" b="1" dirty="0">
                <a:solidFill>
                  <a:srgbClr val="FF3131"/>
                </a:solidFill>
                <a:latin typeface="Canva Sans Bold"/>
                <a:ea typeface="Canva Sans Bold"/>
                <a:cs typeface="Canva Sans Bold"/>
                <a:sym typeface="Canva Sans Bold"/>
              </a:rPr>
              <a:t>3. Mobile Port</a:t>
            </a:r>
          </a:p>
          <a:p>
            <a:pPr marL="647702" lvl="1" indent="-323851" algn="l">
              <a:lnSpc>
                <a:spcPts val="4200"/>
              </a:lnSpc>
              <a:buFont typeface="Arial"/>
              <a:buChar char="•"/>
            </a:pPr>
            <a:r>
              <a:rPr lang="en-US" sz="3000" dirty="0">
                <a:solidFill>
                  <a:srgbClr val="000000"/>
                </a:solidFill>
                <a:latin typeface="Canva Sans"/>
                <a:ea typeface="Canva Sans"/>
                <a:cs typeface="Canva Sans"/>
                <a:sym typeface="Canva Sans"/>
              </a:rPr>
              <a:t>Make the system work directly on smartphones.</a:t>
            </a:r>
          </a:p>
        </p:txBody>
      </p:sp>
      <p:sp>
        <p:nvSpPr>
          <p:cNvPr id="6" name="TextBox 6"/>
          <p:cNvSpPr txBox="1"/>
          <p:nvPr/>
        </p:nvSpPr>
        <p:spPr>
          <a:xfrm>
            <a:off x="1028700" y="7651115"/>
            <a:ext cx="16230600" cy="1607185"/>
          </a:xfrm>
          <a:prstGeom prst="rect">
            <a:avLst/>
          </a:prstGeom>
        </p:spPr>
        <p:txBody>
          <a:bodyPr lIns="0" tIns="0" rIns="0" bIns="0" rtlCol="0" anchor="t">
            <a:spAutoFit/>
          </a:bodyPr>
          <a:lstStyle/>
          <a:p>
            <a:pPr algn="just">
              <a:lnSpc>
                <a:spcPts val="4480"/>
              </a:lnSpc>
              <a:spcBef>
                <a:spcPct val="0"/>
              </a:spcBef>
            </a:pPr>
            <a:r>
              <a:rPr lang="en-US" sz="3200" b="1" dirty="0">
                <a:solidFill>
                  <a:srgbClr val="FF3131"/>
                </a:solidFill>
                <a:latin typeface="Canva Sans Bold"/>
                <a:ea typeface="Canva Sans Bold"/>
                <a:cs typeface="Canva Sans Bold"/>
                <a:sym typeface="Canva Sans Bold"/>
              </a:rPr>
              <a:t>4. Emotion &amp; Stress</a:t>
            </a:r>
          </a:p>
          <a:p>
            <a:pPr marL="647702" lvl="1" indent="-323851" algn="just">
              <a:lnSpc>
                <a:spcPts val="4200"/>
              </a:lnSpc>
              <a:buFont typeface="Arial"/>
              <a:buChar char="•"/>
            </a:pPr>
            <a:r>
              <a:rPr lang="en-US" sz="3000" dirty="0">
                <a:solidFill>
                  <a:srgbClr val="000000"/>
                </a:solidFill>
                <a:latin typeface="Canva Sans"/>
                <a:ea typeface="Canva Sans"/>
                <a:cs typeface="Canva Sans"/>
                <a:sym typeface="Canva Sans"/>
              </a:rPr>
              <a:t>Add facial action unit analysis to detect signs of road rage, extreme stress, or cognitive overload.</a:t>
            </a:r>
          </a:p>
        </p:txBody>
      </p:sp>
      <p:sp>
        <p:nvSpPr>
          <p:cNvPr id="7" name="Freeform 7"/>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2"/>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31918" y="141605"/>
            <a:ext cx="3624163" cy="887095"/>
          </a:xfrm>
          <a:prstGeom prst="rect">
            <a:avLst/>
          </a:prstGeom>
        </p:spPr>
        <p:txBody>
          <a:bodyPr lIns="0" tIns="0" rIns="0" bIns="0" rtlCol="0" anchor="t">
            <a:spAutoFit/>
          </a:bodyPr>
          <a:lstStyle/>
          <a:p>
            <a:pPr algn="ctr">
              <a:lnSpc>
                <a:spcPts val="7279"/>
              </a:lnSpc>
            </a:pPr>
            <a:r>
              <a:rPr lang="en-US" sz="5199" b="1">
                <a:solidFill>
                  <a:srgbClr val="FF3131"/>
                </a:solidFill>
                <a:latin typeface="Canva Sans Bold"/>
                <a:ea typeface="Canva Sans Bold"/>
                <a:cs typeface="Canva Sans Bold"/>
                <a:sym typeface="Canva Sans Bold"/>
              </a:rPr>
              <a:t>Conclusion</a:t>
            </a:r>
          </a:p>
        </p:txBody>
      </p:sp>
      <p:sp>
        <p:nvSpPr>
          <p:cNvPr id="3" name="TextBox 3"/>
          <p:cNvSpPr txBox="1"/>
          <p:nvPr/>
        </p:nvSpPr>
        <p:spPr>
          <a:xfrm>
            <a:off x="1028700" y="1763362"/>
            <a:ext cx="11925300" cy="580390"/>
          </a:xfrm>
          <a:prstGeom prst="rect">
            <a:avLst/>
          </a:prstGeom>
        </p:spPr>
        <p:txBody>
          <a:bodyPr wrap="square" lIns="0" tIns="0" rIns="0" bIns="0" rtlCol="0" anchor="t">
            <a:spAutoFit/>
          </a:bodyPr>
          <a:lstStyle/>
          <a:p>
            <a:pPr algn="ctr">
              <a:lnSpc>
                <a:spcPts val="4759"/>
              </a:lnSpc>
            </a:pPr>
            <a:r>
              <a:rPr lang="en-US" sz="3399" b="1" dirty="0">
                <a:solidFill>
                  <a:srgbClr val="FF3131"/>
                </a:solidFill>
                <a:latin typeface="Canva Sans Bold"/>
                <a:ea typeface="Canva Sans Bold"/>
                <a:cs typeface="Canva Sans Bold"/>
                <a:sym typeface="Canva Sans Bold"/>
              </a:rPr>
              <a:t>A complete, real-time, vision-only driver safety pipeline.</a:t>
            </a:r>
          </a:p>
        </p:txBody>
      </p:sp>
      <p:sp>
        <p:nvSpPr>
          <p:cNvPr id="4" name="TextBox 4"/>
          <p:cNvSpPr txBox="1"/>
          <p:nvPr/>
        </p:nvSpPr>
        <p:spPr>
          <a:xfrm>
            <a:off x="1028700" y="2766832"/>
            <a:ext cx="16230600" cy="2647950"/>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000000"/>
                </a:solidFill>
                <a:latin typeface="Canva Sans"/>
                <a:ea typeface="Canva Sans"/>
                <a:cs typeface="Canva Sans"/>
                <a:sym typeface="Canva Sans"/>
              </a:rPr>
              <a:t>This project shows that even with basic hardware like a webcam, we can build an effective driver safety system using AI models like YOLOv8 and MediaPipe. It can detect risky behaviors such as drowsiness, distraction, and phone usage in real time. The system is flexible and can be improved further with additional features in the future. Overall, this solution helps in reducing accidents and improving road safety.</a:t>
            </a:r>
          </a:p>
        </p:txBody>
      </p:sp>
      <p:sp>
        <p:nvSpPr>
          <p:cNvPr id="5" name="TextBox 5"/>
          <p:cNvSpPr txBox="1"/>
          <p:nvPr/>
        </p:nvSpPr>
        <p:spPr>
          <a:xfrm>
            <a:off x="1066800" y="6187270"/>
            <a:ext cx="16120258" cy="2719070"/>
          </a:xfrm>
          <a:prstGeom prst="rect">
            <a:avLst/>
          </a:prstGeom>
        </p:spPr>
        <p:txBody>
          <a:bodyPr lIns="0" tIns="0" rIns="0" bIns="0" rtlCol="0" anchor="t">
            <a:spAutoFit/>
          </a:bodyPr>
          <a:lstStyle/>
          <a:p>
            <a:pPr algn="l">
              <a:lnSpc>
                <a:spcPts val="4759"/>
              </a:lnSpc>
              <a:spcBef>
                <a:spcPct val="0"/>
              </a:spcBef>
            </a:pPr>
            <a:r>
              <a:rPr lang="en-US" sz="3399" b="1" dirty="0">
                <a:solidFill>
                  <a:srgbClr val="FF3131"/>
                </a:solidFill>
                <a:latin typeface="Canva Sans Bold"/>
                <a:ea typeface="Canva Sans Bold"/>
                <a:cs typeface="Canva Sans Bold"/>
                <a:sym typeface="Canva Sans Bold"/>
              </a:rPr>
              <a:t>System Highlights</a:t>
            </a:r>
          </a:p>
          <a:p>
            <a:pPr marL="647700" lvl="1" indent="-323850" algn="just">
              <a:lnSpc>
                <a:spcPts val="4200"/>
              </a:lnSpc>
              <a:buFont typeface="Arial"/>
              <a:buChar char="•"/>
            </a:pPr>
            <a:r>
              <a:rPr lang="en-US" sz="3000" dirty="0">
                <a:solidFill>
                  <a:srgbClr val="000000"/>
                </a:solidFill>
                <a:latin typeface="Canva Sans"/>
                <a:ea typeface="Canva Sans"/>
                <a:cs typeface="Canva Sans"/>
                <a:sym typeface="Canva Sans"/>
              </a:rPr>
              <a:t>4 Hazards Detected: Drowsiness, Yawning, Distraction, and Phone Usage.</a:t>
            </a:r>
          </a:p>
          <a:p>
            <a:pPr marL="647700" lvl="1" indent="-323850" algn="just">
              <a:lnSpc>
                <a:spcPts val="4200"/>
              </a:lnSpc>
              <a:buFont typeface="Arial"/>
              <a:buChar char="•"/>
            </a:pPr>
            <a:r>
              <a:rPr lang="en-US" sz="3000" dirty="0">
                <a:solidFill>
                  <a:srgbClr val="000000"/>
                </a:solidFill>
                <a:latin typeface="Canva Sans"/>
                <a:ea typeface="Canva Sans"/>
                <a:cs typeface="Canva Sans"/>
                <a:sym typeface="Canva Sans"/>
              </a:rPr>
              <a:t>Safety Score 0–100: Real-time quantified driver performance.</a:t>
            </a:r>
          </a:p>
          <a:p>
            <a:pPr marL="647700" lvl="1" indent="-323850" algn="just">
              <a:lnSpc>
                <a:spcPts val="4200"/>
              </a:lnSpc>
              <a:buFont typeface="Arial"/>
              <a:buChar char="•"/>
            </a:pPr>
            <a:r>
              <a:rPr lang="en-US" sz="3000" dirty="0">
                <a:solidFill>
                  <a:srgbClr val="000000"/>
                </a:solidFill>
                <a:latin typeface="Canva Sans"/>
                <a:ea typeface="Canva Sans"/>
                <a:cs typeface="Canva Sans"/>
                <a:sym typeface="Canva Sans"/>
              </a:rPr>
              <a:t>6-Chart Analytics: Detailed post-drive breakdown for behavior review.</a:t>
            </a:r>
          </a:p>
          <a:p>
            <a:pPr marL="647700" lvl="1" indent="-323850" algn="just">
              <a:lnSpc>
                <a:spcPts val="4200"/>
              </a:lnSpc>
              <a:buFont typeface="Arial"/>
              <a:buChar char="•"/>
            </a:pPr>
            <a:r>
              <a:rPr lang="en-US" sz="3000" dirty="0">
                <a:solidFill>
                  <a:srgbClr val="000000"/>
                </a:solidFill>
                <a:latin typeface="Canva Sans"/>
                <a:ea typeface="Canva Sans"/>
                <a:cs typeface="Canva Sans"/>
                <a:sym typeface="Canva Sans"/>
              </a:rPr>
              <a:t>Extensible &amp; Modular: Built for future hardware and software integration.</a:t>
            </a:r>
          </a:p>
        </p:txBody>
      </p:sp>
      <p:sp>
        <p:nvSpPr>
          <p:cNvPr id="6" name="Freeform 6"/>
          <p:cNvSpPr/>
          <p:nvPr/>
        </p:nvSpPr>
        <p:spPr>
          <a:xfrm>
            <a:off x="13284783"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2"/>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335491" y="2309093"/>
            <a:ext cx="8923809" cy="5668813"/>
          </a:xfrm>
          <a:custGeom>
            <a:avLst/>
            <a:gdLst/>
            <a:ahLst/>
            <a:cxnLst/>
            <a:rect l="l" t="t" r="r" b="b"/>
            <a:pathLst>
              <a:path w="8923809" h="5668813">
                <a:moveTo>
                  <a:pt x="0" y="0"/>
                </a:moveTo>
                <a:lnTo>
                  <a:pt x="8923809" y="0"/>
                </a:lnTo>
                <a:lnTo>
                  <a:pt x="8923809" y="5668814"/>
                </a:lnTo>
                <a:lnTo>
                  <a:pt x="0" y="5668814"/>
                </a:lnTo>
                <a:lnTo>
                  <a:pt x="0" y="0"/>
                </a:lnTo>
                <a:close/>
              </a:path>
            </a:pathLst>
          </a:custGeom>
          <a:blipFill>
            <a:blip r:embed="rId2"/>
            <a:stretch>
              <a:fillRect/>
            </a:stretch>
          </a:blipFill>
        </p:spPr>
      </p:sp>
      <p:sp>
        <p:nvSpPr>
          <p:cNvPr id="3" name="TextBox 3"/>
          <p:cNvSpPr txBox="1"/>
          <p:nvPr/>
        </p:nvSpPr>
        <p:spPr>
          <a:xfrm>
            <a:off x="1028700" y="2816848"/>
            <a:ext cx="7578621" cy="4149250"/>
          </a:xfrm>
          <a:prstGeom prst="rect">
            <a:avLst/>
          </a:prstGeom>
        </p:spPr>
        <p:txBody>
          <a:bodyPr lIns="0" tIns="0" rIns="0" bIns="0" rtlCol="0" anchor="t">
            <a:spAutoFit/>
          </a:bodyPr>
          <a:lstStyle/>
          <a:p>
            <a:pPr algn="ctr">
              <a:lnSpc>
                <a:spcPts val="16659"/>
              </a:lnSpc>
            </a:pPr>
            <a:r>
              <a:rPr lang="en-US" sz="11899">
                <a:solidFill>
                  <a:srgbClr val="000000"/>
                </a:solidFill>
                <a:latin typeface="Drunken Hour"/>
                <a:ea typeface="Drunken Hour"/>
                <a:cs typeface="Drunken Hour"/>
                <a:sym typeface="Drunken Hour"/>
              </a:rPr>
              <a:t>THANK </a:t>
            </a:r>
          </a:p>
          <a:p>
            <a:pPr algn="ctr">
              <a:lnSpc>
                <a:spcPts val="16659"/>
              </a:lnSpc>
            </a:pPr>
            <a:r>
              <a:rPr lang="en-US" sz="11899">
                <a:solidFill>
                  <a:srgbClr val="000000"/>
                </a:solidFill>
                <a:latin typeface="Drunken Hour"/>
                <a:ea typeface="Drunken Hour"/>
                <a:cs typeface="Drunken Hour"/>
                <a:sym typeface="Drunken Hour"/>
              </a:rPr>
              <a:t>YOU</a:t>
            </a:r>
          </a:p>
        </p:txBody>
      </p:sp>
      <p:sp>
        <p:nvSpPr>
          <p:cNvPr id="4" name="Freeform 4"/>
          <p:cNvSpPr/>
          <p:nvPr/>
        </p:nvSpPr>
        <p:spPr>
          <a:xfrm>
            <a:off x="13332408" y="9258300"/>
            <a:ext cx="4349516" cy="630680"/>
          </a:xfrm>
          <a:custGeom>
            <a:avLst/>
            <a:gdLst/>
            <a:ahLst/>
            <a:cxnLst/>
            <a:rect l="l" t="t" r="r" b="b"/>
            <a:pathLst>
              <a:path w="4349516" h="630680">
                <a:moveTo>
                  <a:pt x="0" y="0"/>
                </a:moveTo>
                <a:lnTo>
                  <a:pt x="4349516" y="0"/>
                </a:lnTo>
                <a:lnTo>
                  <a:pt x="4349516" y="630680"/>
                </a:lnTo>
                <a:lnTo>
                  <a:pt x="0" y="630680"/>
                </a:lnTo>
                <a:lnTo>
                  <a:pt x="0" y="0"/>
                </a:lnTo>
                <a:close/>
              </a:path>
            </a:pathLst>
          </a:custGeom>
          <a:blipFill>
            <a:blip r:embed="rId3"/>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1097</Words>
  <Application>Microsoft Office PowerPoint</Application>
  <PresentationFormat>Custom</PresentationFormat>
  <Paragraphs>122</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Calibri</vt:lpstr>
      <vt:lpstr>Canva Sans Bold</vt:lpstr>
      <vt:lpstr>Arial</vt:lpstr>
      <vt:lpstr>Arimo</vt:lpstr>
      <vt:lpstr>Canva Sans</vt:lpstr>
      <vt:lpstr>Drunken Hour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Real-Time Driver Safety Monitoring and Risk Assessment System </dc:title>
  <cp:lastModifiedBy>Akhilesh Kurakula</cp:lastModifiedBy>
  <cp:revision>2</cp:revision>
  <dcterms:created xsi:type="dcterms:W3CDTF">2006-08-16T00:00:00Z</dcterms:created>
  <dcterms:modified xsi:type="dcterms:W3CDTF">2026-04-24T22:44:24Z</dcterms:modified>
  <dc:identifier>DAHHyiTs9qk</dc:identifier>
</cp:coreProperties>
</file>